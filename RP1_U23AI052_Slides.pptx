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JetBrains Mono Medium" charset="1" panose="02010609020102050004"/>
      <p:regular r:id="rId17"/>
    </p:embeddedFont>
    <p:embeddedFont>
      <p:font typeface="Tinos Bold" charset="1" panose="02020803070505020304"/>
      <p:regular r:id="rId18"/>
    </p:embeddedFont>
    <p:embeddedFont>
      <p:font typeface="Tinos" charset="1" panose="02020603050405020304"/>
      <p:regular r:id="rId19"/>
    </p:embeddedFont>
    <p:embeddedFont>
      <p:font typeface="Tinos Italics" charset="1" panose="0202050305040509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74131" y="3302527"/>
            <a:ext cx="6753425" cy="31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176" spc="130">
                <a:solidFill>
                  <a:srgbClr val="1A1A8C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AI465 Research Project — Phase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19" y="3750250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MCPToolBench++: Evaluating Real MCP Tool Use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78767" y="4641447"/>
            <a:ext cx="4344152" cy="19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Area: Tool use and MCP</a:t>
            </a:r>
          </a:p>
          <a:p>
            <a:pPr algn="ctr">
              <a:lnSpc>
                <a:spcPts val="3855"/>
              </a:lnSpc>
            </a:pPr>
            <a:r>
              <a:rPr lang="en-US" sz="3002" i="true">
                <a:solidFill>
                  <a:srgbClr val="0C0C0C"/>
                </a:solidFill>
                <a:latin typeface="Tinos Italics"/>
                <a:ea typeface="Tinos Italics"/>
                <a:cs typeface="Tinos Italics"/>
                <a:sym typeface="Tinos Italics"/>
              </a:rPr>
              <a:t>Primary paper: Fan et al., 2025 (arXiv:2508.07575)</a:t>
            </a:r>
          </a:p>
          <a:p>
            <a:pPr algn="ctr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U23AI052 | Individual 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974048" y="6874983"/>
            <a:ext cx="12353744" cy="47511"/>
            <a:chOff x="0" y="0"/>
            <a:chExt cx="16471659" cy="63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646" cy="63247"/>
            </a:xfrm>
            <a:custGeom>
              <a:avLst/>
              <a:gdLst/>
              <a:ahLst/>
              <a:cxnLst/>
              <a:rect r="r" b="b" t="t" l="l"/>
              <a:pathLst>
                <a:path h="63247" w="16471646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6440023" y="0"/>
                  </a:lnTo>
                  <a:cubicBezTo>
                    <a:pt x="16457549" y="0"/>
                    <a:pt x="16471646" y="14224"/>
                    <a:pt x="16471646" y="31623"/>
                  </a:cubicBezTo>
                  <a:cubicBezTo>
                    <a:pt x="16471646" y="49149"/>
                    <a:pt x="16457422" y="63246"/>
                    <a:pt x="16440023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964397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Problem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5095" y="1982753"/>
            <a:ext cx="5435441" cy="47511"/>
            <a:chOff x="0" y="0"/>
            <a:chExt cx="7247255" cy="633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47255" cy="63247"/>
            </a:xfrm>
            <a:custGeom>
              <a:avLst/>
              <a:gdLst/>
              <a:ahLst/>
              <a:cxnLst/>
              <a:rect r="r" b="b" t="t" l="l"/>
              <a:pathLst>
                <a:path h="63247" w="7247255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7215632" y="0"/>
                  </a:lnTo>
                  <a:cubicBezTo>
                    <a:pt x="7233158" y="0"/>
                    <a:pt x="7247255" y="14224"/>
                    <a:pt x="7247255" y="31623"/>
                  </a:cubicBezTo>
                  <a:cubicBezTo>
                    <a:pt x="7247255" y="49149"/>
                    <a:pt x="7233031" y="63246"/>
                    <a:pt x="7215632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1A1A8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5561" y="2533250"/>
            <a:ext cx="686324" cy="686333"/>
            <a:chOff x="0" y="0"/>
            <a:chExt cx="915099" cy="915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8075" y="2723864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1122" y="2587619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MCP is becoming the standard tool interface for LLM agents.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5561" y="3619948"/>
            <a:ext cx="686324" cy="686333"/>
            <a:chOff x="0" y="0"/>
            <a:chExt cx="915099" cy="9151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58075" y="3810572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1122" y="3674316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Large-scale evaluation of real MCP tool use is still missing.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5561" y="4706645"/>
            <a:ext cx="686324" cy="686333"/>
            <a:chOff x="0" y="0"/>
            <a:chExt cx="915099" cy="915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58075" y="4897269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1122" y="4761014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Existing tool-use benchmarks over-represent programming and math functions.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5561" y="5793343"/>
            <a:ext cx="686324" cy="686333"/>
            <a:chOff x="0" y="0"/>
            <a:chExt cx="915099" cy="9151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58075" y="5983967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11122" y="5847721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Real MCP servers vary in success rate, response format, and reliability.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5561" y="6880041"/>
            <a:ext cx="686324" cy="686333"/>
            <a:chOff x="0" y="0"/>
            <a:chExt cx="915099" cy="915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58075" y="7070665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11122" y="6934419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One user query can require up to 10 dependent tool calls.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5095" y="3395939"/>
            <a:ext cx="16471659" cy="47663"/>
            <a:chOff x="0" y="0"/>
            <a:chExt cx="21962212" cy="635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5095" y="4482636"/>
            <a:ext cx="16471659" cy="47663"/>
            <a:chOff x="0" y="0"/>
            <a:chExt cx="21962212" cy="635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5095" y="5569334"/>
            <a:ext cx="16471659" cy="47663"/>
            <a:chOff x="0" y="0"/>
            <a:chExt cx="21962212" cy="63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5095" y="6656032"/>
            <a:ext cx="16471659" cy="47663"/>
            <a:chOff x="0" y="0"/>
            <a:chExt cx="21962212" cy="635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253299" y="9800101"/>
            <a:ext cx="1048541" cy="341528"/>
            <a:chOff x="0" y="0"/>
            <a:chExt cx="1398054" cy="4553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8058" cy="455374"/>
            </a:xfrm>
            <a:custGeom>
              <a:avLst/>
              <a:gdLst/>
              <a:ahLst/>
              <a:cxnLst/>
              <a:rect r="r" b="b" t="t" l="l"/>
              <a:pathLst>
                <a:path h="455374" w="1398058">
                  <a:moveTo>
                    <a:pt x="0" y="0"/>
                  </a:moveTo>
                  <a:lnTo>
                    <a:pt x="1398058" y="0"/>
                  </a:lnTo>
                  <a:lnTo>
                    <a:pt x="1398058" y="455374"/>
                  </a:lnTo>
                  <a:lnTo>
                    <a:pt x="0" y="455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1" r="0" b="-98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398054" cy="48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2101">
                  <a:solidFill>
                    <a:srgbClr val="0C0C0C"/>
                  </a:solidFill>
                  <a:latin typeface="Tinos"/>
                  <a:ea typeface="Tinos"/>
                  <a:cs typeface="Tinos"/>
                  <a:sym typeface="Tinos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964397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Method in Three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5095" y="1889808"/>
            <a:ext cx="5185524" cy="3128877"/>
            <a:chOff x="0" y="0"/>
            <a:chExt cx="6914032" cy="4171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14007" cy="4171823"/>
            </a:xfrm>
            <a:custGeom>
              <a:avLst/>
              <a:gdLst/>
              <a:ahLst/>
              <a:cxnLst/>
              <a:rect r="r" b="b" t="t" l="l"/>
              <a:pathLst>
                <a:path h="4171823" w="6914007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6891147" y="0"/>
                  </a:lnTo>
                  <a:cubicBezTo>
                    <a:pt x="6903720" y="0"/>
                    <a:pt x="6914007" y="10287"/>
                    <a:pt x="6914007" y="22860"/>
                  </a:cubicBezTo>
                  <a:lnTo>
                    <a:pt x="6914007" y="4148963"/>
                  </a:lnTo>
                  <a:cubicBezTo>
                    <a:pt x="6914007" y="4161536"/>
                    <a:pt x="6903720" y="4171823"/>
                    <a:pt x="6891147" y="4171823"/>
                  </a:cubicBezTo>
                  <a:lnTo>
                    <a:pt x="22860" y="4171823"/>
                  </a:lnTo>
                  <a:cubicBezTo>
                    <a:pt x="10287" y="4171823"/>
                    <a:pt x="0" y="4161536"/>
                    <a:pt x="0" y="41489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58252" y="2271074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1A1A8C"/>
                </a:solidFill>
                <a:latin typeface="Tinos Bold"/>
                <a:ea typeface="Tinos Bold"/>
                <a:cs typeface="Tinos Bold"/>
                <a:sym typeface="Tinos Bold"/>
              </a:rPr>
              <a:t>01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58252" y="2766793"/>
            <a:ext cx="4499200" cy="28594"/>
            <a:chOff x="0" y="0"/>
            <a:chExt cx="5998934" cy="381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98972" cy="38100"/>
            </a:xfrm>
            <a:custGeom>
              <a:avLst/>
              <a:gdLst/>
              <a:ahLst/>
              <a:cxnLst/>
              <a:rect r="r" b="b" t="t" l="l"/>
              <a:pathLst>
                <a:path h="38100" w="5998972">
                  <a:moveTo>
                    <a:pt x="0" y="0"/>
                  </a:moveTo>
                  <a:lnTo>
                    <a:pt x="5998972" y="0"/>
                  </a:lnTo>
                  <a:lnTo>
                    <a:pt x="59989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58252" y="3005118"/>
            <a:ext cx="4499200" cy="52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b="true" sz="3452" spc="-7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Collect schemas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252" y="3658676"/>
            <a:ext cx="4499200" cy="102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4,000+ MCP servers, 40+ categories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58163" y="1889808"/>
            <a:ext cx="5185524" cy="3128877"/>
            <a:chOff x="0" y="0"/>
            <a:chExt cx="6914032" cy="41718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4007" cy="4171823"/>
            </a:xfrm>
            <a:custGeom>
              <a:avLst/>
              <a:gdLst/>
              <a:ahLst/>
              <a:cxnLst/>
              <a:rect r="r" b="b" t="t" l="l"/>
              <a:pathLst>
                <a:path h="4171823" w="6914007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6891147" y="0"/>
                  </a:lnTo>
                  <a:cubicBezTo>
                    <a:pt x="6903720" y="0"/>
                    <a:pt x="6914007" y="10287"/>
                    <a:pt x="6914007" y="22860"/>
                  </a:cubicBezTo>
                  <a:lnTo>
                    <a:pt x="6914007" y="4148963"/>
                  </a:lnTo>
                  <a:cubicBezTo>
                    <a:pt x="6914007" y="4161536"/>
                    <a:pt x="6903720" y="4171823"/>
                    <a:pt x="6891147" y="4171823"/>
                  </a:cubicBezTo>
                  <a:lnTo>
                    <a:pt x="22860" y="4171823"/>
                  </a:lnTo>
                  <a:cubicBezTo>
                    <a:pt x="10287" y="4171823"/>
                    <a:pt x="0" y="4161536"/>
                    <a:pt x="0" y="41489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901320" y="2271074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1A1A8C"/>
                </a:solidFill>
                <a:latin typeface="Tinos Bold"/>
                <a:ea typeface="Tinos Bold"/>
                <a:cs typeface="Tinos Bold"/>
                <a:sym typeface="Tinos Bold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901320" y="2766793"/>
            <a:ext cx="4499200" cy="28594"/>
            <a:chOff x="0" y="0"/>
            <a:chExt cx="5998934" cy="38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98972" cy="38100"/>
            </a:xfrm>
            <a:custGeom>
              <a:avLst/>
              <a:gdLst/>
              <a:ahLst/>
              <a:cxnLst/>
              <a:rect r="r" b="b" t="t" l="l"/>
              <a:pathLst>
                <a:path h="38100" w="5998972">
                  <a:moveTo>
                    <a:pt x="0" y="0"/>
                  </a:moveTo>
                  <a:lnTo>
                    <a:pt x="5998972" y="0"/>
                  </a:lnTo>
                  <a:lnTo>
                    <a:pt x="59989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901320" y="3005118"/>
            <a:ext cx="4499200" cy="52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b="true" sz="3452" spc="-7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Generate QA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1320" y="3658676"/>
            <a:ext cx="4842358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1,509 pairs across 6 domains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201230" y="1889808"/>
            <a:ext cx="5185524" cy="3128877"/>
            <a:chOff x="0" y="0"/>
            <a:chExt cx="6914032" cy="41718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14007" cy="4171823"/>
            </a:xfrm>
            <a:custGeom>
              <a:avLst/>
              <a:gdLst/>
              <a:ahLst/>
              <a:cxnLst/>
              <a:rect r="r" b="b" t="t" l="l"/>
              <a:pathLst>
                <a:path h="4171823" w="6914007">
                  <a:moveTo>
                    <a:pt x="0" y="22860"/>
                  </a:moveTo>
                  <a:cubicBezTo>
                    <a:pt x="0" y="10287"/>
                    <a:pt x="10287" y="0"/>
                    <a:pt x="22860" y="0"/>
                  </a:cubicBezTo>
                  <a:lnTo>
                    <a:pt x="6891147" y="0"/>
                  </a:lnTo>
                  <a:cubicBezTo>
                    <a:pt x="6903720" y="0"/>
                    <a:pt x="6914007" y="10287"/>
                    <a:pt x="6914007" y="22860"/>
                  </a:cubicBezTo>
                  <a:lnTo>
                    <a:pt x="6914007" y="4148963"/>
                  </a:lnTo>
                  <a:cubicBezTo>
                    <a:pt x="6914007" y="4161536"/>
                    <a:pt x="6903720" y="4171823"/>
                    <a:pt x="6891147" y="4171823"/>
                  </a:cubicBezTo>
                  <a:lnTo>
                    <a:pt x="22860" y="4171823"/>
                  </a:lnTo>
                  <a:cubicBezTo>
                    <a:pt x="10287" y="4171823"/>
                    <a:pt x="0" y="4161536"/>
                    <a:pt x="0" y="41489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544387" y="2271074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1A1A8C"/>
                </a:solidFill>
                <a:latin typeface="Tinos Bold"/>
                <a:ea typeface="Tinos Bold"/>
                <a:cs typeface="Tinos Bold"/>
                <a:sym typeface="Tinos Bold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44387" y="2766793"/>
            <a:ext cx="4499200" cy="28594"/>
            <a:chOff x="0" y="0"/>
            <a:chExt cx="5998934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98972" cy="38100"/>
            </a:xfrm>
            <a:custGeom>
              <a:avLst/>
              <a:gdLst/>
              <a:ahLst/>
              <a:cxnLst/>
              <a:rect r="r" b="b" t="t" l="l"/>
              <a:pathLst>
                <a:path h="38100" w="5998972">
                  <a:moveTo>
                    <a:pt x="0" y="0"/>
                  </a:moveTo>
                  <a:lnTo>
                    <a:pt x="5998972" y="0"/>
                  </a:lnTo>
                  <a:lnTo>
                    <a:pt x="599897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44387" y="3005118"/>
            <a:ext cx="4499200" cy="52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8"/>
              </a:lnSpc>
            </a:pPr>
            <a:r>
              <a:rPr lang="en-US" b="true" sz="3452" spc="-7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Evaluate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44387" y="3658676"/>
            <a:ext cx="4842358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AST, AST DAG, Pass@K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5095" y="5206508"/>
            <a:ext cx="7892672" cy="102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Domains: browser, file system, search, map, finance, pay.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4082" y="5206508"/>
            <a:ext cx="789267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Chains up to 10 tools; multilingual queries.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5095" y="6868735"/>
            <a:ext cx="16471659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AST checks function and parameters; Pass@K checks real execution.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27093" y="5247465"/>
            <a:ext cx="47663" cy="1319051"/>
            <a:chOff x="0" y="0"/>
            <a:chExt cx="63551" cy="17587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" cy="1758696"/>
            </a:xfrm>
            <a:custGeom>
              <a:avLst/>
              <a:gdLst/>
              <a:ahLst/>
              <a:cxnLst/>
              <a:rect r="r" b="b" t="t" l="l"/>
              <a:pathLst>
                <a:path h="1758696" w="63500">
                  <a:moveTo>
                    <a:pt x="0" y="0"/>
                  </a:moveTo>
                  <a:lnTo>
                    <a:pt x="63500" y="0"/>
                  </a:lnTo>
                  <a:lnTo>
                    <a:pt x="63500" y="1758696"/>
                  </a:lnTo>
                  <a:lnTo>
                    <a:pt x="0" y="175869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5095" y="6542684"/>
            <a:ext cx="16471659" cy="47663"/>
            <a:chOff x="0" y="0"/>
            <a:chExt cx="21962212" cy="63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253299" y="9800101"/>
            <a:ext cx="1048541" cy="341528"/>
            <a:chOff x="0" y="0"/>
            <a:chExt cx="1398054" cy="4553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8058" cy="455374"/>
            </a:xfrm>
            <a:custGeom>
              <a:avLst/>
              <a:gdLst/>
              <a:ahLst/>
              <a:cxnLst/>
              <a:rect r="r" b="b" t="t" l="l"/>
              <a:pathLst>
                <a:path h="455374" w="1398058">
                  <a:moveTo>
                    <a:pt x="0" y="0"/>
                  </a:moveTo>
                  <a:lnTo>
                    <a:pt x="1398058" y="0"/>
                  </a:lnTo>
                  <a:lnTo>
                    <a:pt x="1398058" y="455374"/>
                  </a:lnTo>
                  <a:lnTo>
                    <a:pt x="0" y="455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1" r="0" b="-98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98054" cy="48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2101">
                  <a:solidFill>
                    <a:srgbClr val="0C0C0C"/>
                  </a:solidFill>
                  <a:latin typeface="Tinos"/>
                  <a:ea typeface="Tinos"/>
                  <a:cs typeface="Tinos"/>
                  <a:sym typeface="Tino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964397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What the Paper Reports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5095" y="2219573"/>
            <a:ext cx="209712" cy="209712"/>
            <a:chOff x="0" y="0"/>
            <a:chExt cx="279616" cy="2796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654" cy="279654"/>
            </a:xfrm>
            <a:custGeom>
              <a:avLst/>
              <a:gdLst/>
              <a:ahLst/>
              <a:cxnLst/>
              <a:rect r="r" b="b" t="t" l="l"/>
              <a:pathLst>
                <a:path h="279654" w="279654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cubicBezTo>
                    <a:pt x="217043" y="0"/>
                    <a:pt x="279654" y="62611"/>
                    <a:pt x="279654" y="139827"/>
                  </a:cubicBezTo>
                  <a:cubicBezTo>
                    <a:pt x="279654" y="217043"/>
                    <a:pt x="217043" y="279654"/>
                    <a:pt x="139827" y="279654"/>
                  </a:cubicBezTo>
                  <a:cubicBezTo>
                    <a:pt x="62611" y="279654"/>
                    <a:pt x="0" y="217043"/>
                    <a:pt x="0" y="139827"/>
                  </a:cubicBez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53569" y="2039503"/>
            <a:ext cx="16033175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Models tested: OpenAI, Claude, Qwen, Kimi, and others.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5095" y="3088815"/>
            <a:ext cx="209712" cy="209712"/>
            <a:chOff x="0" y="0"/>
            <a:chExt cx="279616" cy="279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654" cy="279654"/>
            </a:xfrm>
            <a:custGeom>
              <a:avLst/>
              <a:gdLst/>
              <a:ahLst/>
              <a:cxnLst/>
              <a:rect r="r" b="b" t="t" l="l"/>
              <a:pathLst>
                <a:path h="279654" w="279654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cubicBezTo>
                    <a:pt x="217043" y="0"/>
                    <a:pt x="279654" y="62611"/>
                    <a:pt x="279654" y="139827"/>
                  </a:cubicBezTo>
                  <a:cubicBezTo>
                    <a:pt x="279654" y="217043"/>
                    <a:pt x="217043" y="279654"/>
                    <a:pt x="139827" y="279654"/>
                  </a:cubicBezTo>
                  <a:cubicBezTo>
                    <a:pt x="62611" y="279654"/>
                    <a:pt x="0" y="217043"/>
                    <a:pt x="0" y="139827"/>
                  </a:cubicBez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53569" y="2908745"/>
            <a:ext cx="16033175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Metrics: AST accuracy, AST DAG accuracy, Pass@K.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5095" y="3958047"/>
            <a:ext cx="209712" cy="209712"/>
            <a:chOff x="0" y="0"/>
            <a:chExt cx="279616" cy="279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9654" cy="279654"/>
            </a:xfrm>
            <a:custGeom>
              <a:avLst/>
              <a:gdLst/>
              <a:ahLst/>
              <a:cxnLst/>
              <a:rect r="r" b="b" t="t" l="l"/>
              <a:pathLst>
                <a:path h="279654" w="279654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cubicBezTo>
                    <a:pt x="217043" y="0"/>
                    <a:pt x="279654" y="62611"/>
                    <a:pt x="279654" y="139827"/>
                  </a:cubicBezTo>
                  <a:cubicBezTo>
                    <a:pt x="279654" y="217043"/>
                    <a:pt x="217043" y="279654"/>
                    <a:pt x="139827" y="279654"/>
                  </a:cubicBezTo>
                  <a:cubicBezTo>
                    <a:pt x="62611" y="279654"/>
                    <a:pt x="0" y="217043"/>
                    <a:pt x="0" y="139827"/>
                  </a:cubicBez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53569" y="3777986"/>
            <a:ext cx="16033175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Key finding: </a:t>
            </a:r>
            <a:r>
              <a:rPr lang="en-US" sz="3002" b="true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high AST does not imply high Pass@K.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5095" y="4827289"/>
            <a:ext cx="209712" cy="209712"/>
            <a:chOff x="0" y="0"/>
            <a:chExt cx="279616" cy="279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654" cy="279654"/>
            </a:xfrm>
            <a:custGeom>
              <a:avLst/>
              <a:gdLst/>
              <a:ahLst/>
              <a:cxnLst/>
              <a:rect r="r" b="b" t="t" l="l"/>
              <a:pathLst>
                <a:path h="279654" w="279654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cubicBezTo>
                    <a:pt x="217043" y="0"/>
                    <a:pt x="279654" y="62611"/>
                    <a:pt x="279654" y="139827"/>
                  </a:cubicBezTo>
                  <a:cubicBezTo>
                    <a:pt x="279654" y="217043"/>
                    <a:pt x="217043" y="279654"/>
                    <a:pt x="139827" y="279654"/>
                  </a:cubicBezTo>
                  <a:cubicBezTo>
                    <a:pt x="62611" y="279654"/>
                    <a:pt x="0" y="217043"/>
                    <a:pt x="0" y="139827"/>
                  </a:cubicBez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3569" y="4647228"/>
            <a:ext cx="16033175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Causes: parameter errors, API errors, domain-specific issues.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5095" y="5696531"/>
            <a:ext cx="209712" cy="209712"/>
            <a:chOff x="0" y="0"/>
            <a:chExt cx="279616" cy="2796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9654" cy="279654"/>
            </a:xfrm>
            <a:custGeom>
              <a:avLst/>
              <a:gdLst/>
              <a:ahLst/>
              <a:cxnLst/>
              <a:rect r="r" b="b" t="t" l="l"/>
              <a:pathLst>
                <a:path h="279654" w="279654">
                  <a:moveTo>
                    <a:pt x="0" y="139827"/>
                  </a:moveTo>
                  <a:cubicBezTo>
                    <a:pt x="0" y="62611"/>
                    <a:pt x="62611" y="0"/>
                    <a:pt x="139827" y="0"/>
                  </a:cubicBezTo>
                  <a:cubicBezTo>
                    <a:pt x="217043" y="0"/>
                    <a:pt x="279654" y="62611"/>
                    <a:pt x="279654" y="139827"/>
                  </a:cubicBezTo>
                  <a:cubicBezTo>
                    <a:pt x="279654" y="217043"/>
                    <a:pt x="217043" y="279654"/>
                    <a:pt x="139827" y="279654"/>
                  </a:cubicBezTo>
                  <a:cubicBezTo>
                    <a:pt x="62611" y="279654"/>
                    <a:pt x="0" y="217043"/>
                    <a:pt x="0" y="139827"/>
                  </a:cubicBezTo>
                  <a:close/>
                </a:path>
              </a:pathLst>
            </a:custGeom>
            <a:solidFill>
              <a:srgbClr val="1A1A8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53569" y="5516461"/>
            <a:ext cx="16033175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1A1A8C"/>
                </a:solidFill>
                <a:latin typeface="Tinos"/>
                <a:ea typeface="Tinos"/>
                <a:cs typeface="Tinos"/>
                <a:sym typeface="Tinos"/>
              </a:rPr>
              <a:t>No cost, no latency, no variance, no failure taxonomy reported.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5095" y="2735218"/>
            <a:ext cx="16471659" cy="47663"/>
            <a:chOff x="0" y="0"/>
            <a:chExt cx="21962212" cy="635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5095" y="3604460"/>
            <a:ext cx="16471659" cy="47663"/>
            <a:chOff x="0" y="0"/>
            <a:chExt cx="21962212" cy="63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5095" y="4473692"/>
            <a:ext cx="16471659" cy="47663"/>
            <a:chOff x="0" y="0"/>
            <a:chExt cx="21962212" cy="63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5095" y="5342934"/>
            <a:ext cx="16471659" cy="47663"/>
            <a:chOff x="0" y="0"/>
            <a:chExt cx="21962212" cy="635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253299" y="9800101"/>
            <a:ext cx="1048541" cy="341528"/>
            <a:chOff x="0" y="0"/>
            <a:chExt cx="1398054" cy="4553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8058" cy="455374"/>
            </a:xfrm>
            <a:custGeom>
              <a:avLst/>
              <a:gdLst/>
              <a:ahLst/>
              <a:cxnLst/>
              <a:rect r="r" b="b" t="t" l="l"/>
              <a:pathLst>
                <a:path h="455374" w="1398058">
                  <a:moveTo>
                    <a:pt x="0" y="0"/>
                  </a:moveTo>
                  <a:lnTo>
                    <a:pt x="1398058" y="0"/>
                  </a:lnTo>
                  <a:lnTo>
                    <a:pt x="1398058" y="455374"/>
                  </a:lnTo>
                  <a:lnTo>
                    <a:pt x="0" y="455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1" r="0" b="-982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398054" cy="48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2101">
                  <a:solidFill>
                    <a:srgbClr val="0C0C0C"/>
                  </a:solidFill>
                  <a:latin typeface="Tinos"/>
                  <a:ea typeface="Tinos"/>
                  <a:cs typeface="Tinos"/>
                  <a:sym typeface="Tinos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964397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Gap 1 — Cost and Latency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3184169"/>
            <a:ext cx="9471289" cy="20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Schema tokens alone: 0.1K–0.6K per tool; 25K total across 6 domains.</a:t>
            </a:r>
          </a:p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Without cost figures, accuracy gains cannot be judged against budget.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1072554" y="1889808"/>
          <a:ext cx="6291415" cy="4670899"/>
        </p:xfrm>
        <a:graphic>
          <a:graphicData uri="http://schemas.openxmlformats.org/drawingml/2006/table">
            <a:tbl>
              <a:tblPr/>
              <a:tblGrid>
                <a:gridCol w="3145708"/>
                <a:gridCol w="3145708"/>
              </a:tblGrid>
              <a:tr h="8195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Reported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Not reported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99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AST, AST DAG, Pass@K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Tokens per task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99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Accuracy per model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Model calls per task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15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—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2"/>
                        </a:lnSpc>
                        <a:defRPr/>
                      </a:pPr>
                      <a:r>
                        <a:rPr lang="en-US" sz="3002">
                          <a:solidFill>
                            <a:srgbClr val="0C0C0C"/>
                          </a:solidFill>
                          <a:latin typeface="Tinos"/>
                          <a:ea typeface="Tinos"/>
                          <a:cs typeface="Tinos"/>
                          <a:sym typeface="Tinos"/>
                        </a:rPr>
                        <a:t>Wall-clock latency per task</a:t>
                      </a:r>
                      <a:endParaRPr lang="en-US" sz="1100"/>
                    </a:p>
                  </a:txBody>
                  <a:tcPr marL="190495" marR="190495" marT="190495" marB="190495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7253299" y="9800101"/>
            <a:ext cx="1048541" cy="341528"/>
            <a:chOff x="0" y="0"/>
            <a:chExt cx="1398054" cy="455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8058" cy="455374"/>
            </a:xfrm>
            <a:custGeom>
              <a:avLst/>
              <a:gdLst/>
              <a:ahLst/>
              <a:cxnLst/>
              <a:rect r="r" b="b" t="t" l="l"/>
              <a:pathLst>
                <a:path h="455374" w="1398058">
                  <a:moveTo>
                    <a:pt x="0" y="0"/>
                  </a:moveTo>
                  <a:lnTo>
                    <a:pt x="1398058" y="0"/>
                  </a:lnTo>
                  <a:lnTo>
                    <a:pt x="1398058" y="455374"/>
                  </a:lnTo>
                  <a:lnTo>
                    <a:pt x="0" y="455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1" r="0" b="-98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398054" cy="48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2101">
                  <a:solidFill>
                    <a:srgbClr val="0C0C0C"/>
                  </a:solidFill>
                  <a:latin typeface="Tinos"/>
                  <a:ea typeface="Tinos"/>
                  <a:cs typeface="Tinos"/>
                  <a:sym typeface="Tinos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964397"/>
            <a:ext cx="15991395" cy="81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Gap 2 — Variance                   Gap 3 — Failure Modes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95" y="2672696"/>
            <a:ext cx="7816415" cy="162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One run per configuration, no seed reported.</a:t>
            </a:r>
          </a:p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No standard deviation or confidence interval.</a:t>
            </a:r>
          </a:p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Paper admits MCP server success rates vary.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70339" y="2672696"/>
            <a:ext cx="7816415" cy="308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Failures mentioned anecdotally, not categorised.</a:t>
            </a:r>
          </a:p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No split by tool selection vs. parameter vs. server error.</a:t>
            </a:r>
          </a:p>
          <a:p>
            <a:pPr algn="l" marL="543773" indent="-271887" lvl="1">
              <a:lnSpc>
                <a:spcPts val="3855"/>
              </a:lnSpc>
              <a:buFont typeface="Arial"/>
              <a:buChar char="•"/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Without this, the benchmark says </a:t>
            </a:r>
            <a:r>
              <a:rPr lang="en-US" b="true" sz="3002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THAT</a:t>
            </a: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 models fail, not </a:t>
            </a:r>
            <a:r>
              <a:rPr lang="en-US" b="true" sz="3002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WHY</a:t>
            </a: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27093" y="1889808"/>
            <a:ext cx="47663" cy="3872560"/>
            <a:chOff x="0" y="0"/>
            <a:chExt cx="63551" cy="51634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" cy="5163439"/>
            </a:xfrm>
            <a:custGeom>
              <a:avLst/>
              <a:gdLst/>
              <a:ahLst/>
              <a:cxnLst/>
              <a:rect r="r" b="b" t="t" l="l"/>
              <a:pathLst>
                <a:path h="5163439" w="63500">
                  <a:moveTo>
                    <a:pt x="0" y="0"/>
                  </a:moveTo>
                  <a:lnTo>
                    <a:pt x="63500" y="0"/>
                  </a:lnTo>
                  <a:lnTo>
                    <a:pt x="63500" y="5163439"/>
                  </a:lnTo>
                  <a:lnTo>
                    <a:pt x="0" y="516343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253299" y="9800101"/>
            <a:ext cx="1048541" cy="341528"/>
            <a:chOff x="0" y="0"/>
            <a:chExt cx="1398054" cy="4553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8058" cy="455374"/>
            </a:xfrm>
            <a:custGeom>
              <a:avLst/>
              <a:gdLst/>
              <a:ahLst/>
              <a:cxnLst/>
              <a:rect r="r" b="b" t="t" l="l"/>
              <a:pathLst>
                <a:path h="455374" w="1398058">
                  <a:moveTo>
                    <a:pt x="0" y="0"/>
                  </a:moveTo>
                  <a:lnTo>
                    <a:pt x="1398058" y="0"/>
                  </a:lnTo>
                  <a:lnTo>
                    <a:pt x="1398058" y="455374"/>
                  </a:lnTo>
                  <a:lnTo>
                    <a:pt x="0" y="455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1" r="0" b="-98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398054" cy="48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2101">
                  <a:solidFill>
                    <a:srgbClr val="0C0C0C"/>
                  </a:solidFill>
                  <a:latin typeface="Tinos"/>
                  <a:ea typeface="Tinos"/>
                  <a:cs typeface="Tinos"/>
                  <a:sym typeface="Tinos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5323" y="1782547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Objective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96026" y="2702300"/>
            <a:ext cx="16509787" cy="4109676"/>
            <a:chOff x="0" y="0"/>
            <a:chExt cx="22013050" cy="54795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013038" cy="5479669"/>
            </a:xfrm>
            <a:custGeom>
              <a:avLst/>
              <a:gdLst/>
              <a:ahLst/>
              <a:cxnLst/>
              <a:rect r="r" b="b" t="t" l="l"/>
              <a:pathLst>
                <a:path h="5479669" w="22013038">
                  <a:moveTo>
                    <a:pt x="0" y="23114"/>
                  </a:moveTo>
                  <a:cubicBezTo>
                    <a:pt x="0" y="10287"/>
                    <a:pt x="10287" y="0"/>
                    <a:pt x="23114" y="0"/>
                  </a:cubicBezTo>
                  <a:lnTo>
                    <a:pt x="21989923" y="0"/>
                  </a:lnTo>
                  <a:cubicBezTo>
                    <a:pt x="22002623" y="0"/>
                    <a:pt x="22013038" y="10287"/>
                    <a:pt x="22013038" y="23114"/>
                  </a:cubicBezTo>
                  <a:lnTo>
                    <a:pt x="22013038" y="5456555"/>
                  </a:lnTo>
                  <a:cubicBezTo>
                    <a:pt x="22013038" y="5469255"/>
                    <a:pt x="22002750" y="5479669"/>
                    <a:pt x="21989923" y="5479669"/>
                  </a:cubicBezTo>
                  <a:lnTo>
                    <a:pt x="23114" y="5479669"/>
                  </a:lnTo>
                  <a:cubicBezTo>
                    <a:pt x="10414" y="5479669"/>
                    <a:pt x="0" y="5469382"/>
                    <a:pt x="0" y="545655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76" r="0" b="-28274"/>
              </a:stretch>
            </a:blipFill>
            <a:ln w="38128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601410" y="3252359"/>
            <a:ext cx="15099020" cy="297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5"/>
              </a:lnSpc>
            </a:pPr>
            <a:r>
              <a:rPr lang="en-US" sz="3002" i="true">
                <a:solidFill>
                  <a:srgbClr val="0C0C0C"/>
                </a:solidFill>
                <a:latin typeface="Tinos Italics"/>
                <a:ea typeface="Tinos Italics"/>
                <a:cs typeface="Tinos Italics"/>
                <a:sym typeface="Tinos Italics"/>
              </a:rPr>
              <a:t>To evaluate the effect of tool-count context on MCP tool selection accuracy and failure composition for single-step and multi-step MCP tool-calling tasks on a 200-task stratified subset of MCPToolBench++ (100 single-step, 100 multi-step, across search, map, and finance domains), compared against the same model at a matched tool-count budget (5 vs. 20 vs. 50 tools in context), measured by AST accuracy, AST DAG accuracy, tokens per task, model calls per task, and wall-clock latency per task.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95" y="7056996"/>
            <a:ext cx="5147396" cy="151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Traceable to Gap 1 and Gap 2; failure composition addresses Gap 3.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8805" y="7056996"/>
            <a:ext cx="4804229" cy="151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Feasible: 200 tasks, public benchmark, no training required.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9358" y="7056996"/>
            <a:ext cx="5147396" cy="102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Model reachable via free tier or local open-weight model.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81817" y="7097954"/>
            <a:ext cx="47663" cy="1463831"/>
            <a:chOff x="0" y="0"/>
            <a:chExt cx="63551" cy="1951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" cy="1951736"/>
            </a:xfrm>
            <a:custGeom>
              <a:avLst/>
              <a:gdLst/>
              <a:ahLst/>
              <a:cxnLst/>
              <a:rect r="r" b="b" t="t" l="l"/>
              <a:pathLst>
                <a:path h="1951736" w="63500">
                  <a:moveTo>
                    <a:pt x="0" y="0"/>
                  </a:moveTo>
                  <a:lnTo>
                    <a:pt x="63500" y="0"/>
                  </a:lnTo>
                  <a:lnTo>
                    <a:pt x="63500" y="1951736"/>
                  </a:lnTo>
                  <a:lnTo>
                    <a:pt x="0" y="195173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72370" y="7097954"/>
            <a:ext cx="47663" cy="1463831"/>
            <a:chOff x="0" y="0"/>
            <a:chExt cx="63551" cy="19517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" cy="1951736"/>
            </a:xfrm>
            <a:custGeom>
              <a:avLst/>
              <a:gdLst/>
              <a:ahLst/>
              <a:cxnLst/>
              <a:rect r="r" b="b" t="t" l="l"/>
              <a:pathLst>
                <a:path h="1951736" w="63500">
                  <a:moveTo>
                    <a:pt x="0" y="0"/>
                  </a:moveTo>
                  <a:lnTo>
                    <a:pt x="63500" y="0"/>
                  </a:lnTo>
                  <a:lnTo>
                    <a:pt x="63500" y="1951736"/>
                  </a:lnTo>
                  <a:lnTo>
                    <a:pt x="0" y="1951736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95" y="964397"/>
            <a:ext cx="16471659" cy="71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6"/>
              </a:lnSpc>
            </a:pPr>
            <a:r>
              <a:rPr lang="en-US" b="true" sz="5404" spc="-43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Plan for Phase 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05561" y="2070926"/>
            <a:ext cx="686324" cy="686333"/>
            <a:chOff x="0" y="0"/>
            <a:chExt cx="915099" cy="9151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058075" y="2261540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1122" y="2125294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Week 1: download and filter the 200-task subset.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05561" y="3119495"/>
            <a:ext cx="686324" cy="686333"/>
            <a:chOff x="0" y="0"/>
            <a:chExt cx="915099" cy="915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58075" y="3310109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1122" y="3173863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Week 2: implement tool-count manipulation by truncating tool list.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5561" y="4168064"/>
            <a:ext cx="686324" cy="686333"/>
            <a:chOff x="0" y="0"/>
            <a:chExt cx="915099" cy="915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58075" y="4358678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1122" y="4222433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Week 3: run each condition three times for variance.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5561" y="5216633"/>
            <a:ext cx="686324" cy="686333"/>
            <a:chOff x="0" y="0"/>
            <a:chExt cx="915099" cy="9151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58075" y="5407247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11122" y="5271002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>
                <a:solidFill>
                  <a:srgbClr val="0C0C0C"/>
                </a:solidFill>
                <a:latin typeface="Tinos"/>
                <a:ea typeface="Tinos"/>
                <a:cs typeface="Tinos"/>
                <a:sym typeface="Tinos"/>
              </a:rPr>
              <a:t>Week 4: compute accuracy, token, call, latency, and failure metrics.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5561" y="6265202"/>
            <a:ext cx="686324" cy="686333"/>
            <a:chOff x="0" y="0"/>
            <a:chExt cx="915099" cy="915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5035" cy="915162"/>
            </a:xfrm>
            <a:custGeom>
              <a:avLst/>
              <a:gdLst/>
              <a:ahLst/>
              <a:cxnLst/>
              <a:rect r="r" b="b" t="t" l="l"/>
              <a:pathLst>
                <a:path h="915162" w="915035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035" y="204851"/>
                    <a:pt x="915035" y="457581"/>
                  </a:cubicBezTo>
                  <a:cubicBezTo>
                    <a:pt x="915035" y="710311"/>
                    <a:pt x="710184" y="915162"/>
                    <a:pt x="457581" y="915162"/>
                  </a:cubicBezTo>
                  <a:cubicBezTo>
                    <a:pt x="204978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A1A8C"/>
            </a:solidFill>
            <a:ln w="19065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058075" y="6455816"/>
            <a:ext cx="1296381" cy="34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3002" b="true">
                <a:solidFill>
                  <a:srgbClr val="FFFFFF"/>
                </a:solidFill>
                <a:latin typeface="Tinos Bold"/>
                <a:ea typeface="Tinos Bold"/>
                <a:cs typeface="Tinos Bold"/>
                <a:sym typeface="Tinos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11122" y="6319571"/>
            <a:ext cx="15575632" cy="53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3002" b="true">
                <a:solidFill>
                  <a:srgbClr val="0C0C0C"/>
                </a:solidFill>
                <a:latin typeface="Tinos Bold"/>
                <a:ea typeface="Tinos Bold"/>
                <a:cs typeface="Tinos Bold"/>
                <a:sym typeface="Tinos Bold"/>
              </a:rPr>
              <a:t>Deliverable: short report with a failure taxonomy.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5095" y="2914545"/>
            <a:ext cx="16471659" cy="47663"/>
            <a:chOff x="0" y="0"/>
            <a:chExt cx="21962212" cy="63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5095" y="3963114"/>
            <a:ext cx="16471659" cy="47663"/>
            <a:chOff x="0" y="0"/>
            <a:chExt cx="21962212" cy="635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5095" y="5011684"/>
            <a:ext cx="16471659" cy="47663"/>
            <a:chOff x="0" y="0"/>
            <a:chExt cx="21962212" cy="635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5095" y="6060253"/>
            <a:ext cx="16471659" cy="47663"/>
            <a:chOff x="0" y="0"/>
            <a:chExt cx="21962212" cy="63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622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2238">
                  <a:moveTo>
                    <a:pt x="0" y="0"/>
                  </a:moveTo>
                  <a:lnTo>
                    <a:pt x="21962238" y="0"/>
                  </a:lnTo>
                  <a:lnTo>
                    <a:pt x="219622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253299" y="9800101"/>
            <a:ext cx="1048541" cy="341528"/>
            <a:chOff x="0" y="0"/>
            <a:chExt cx="1398054" cy="4553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98058" cy="455374"/>
            </a:xfrm>
            <a:custGeom>
              <a:avLst/>
              <a:gdLst/>
              <a:ahLst/>
              <a:cxnLst/>
              <a:rect r="r" b="b" t="t" l="l"/>
              <a:pathLst>
                <a:path h="455374" w="1398058">
                  <a:moveTo>
                    <a:pt x="0" y="0"/>
                  </a:moveTo>
                  <a:lnTo>
                    <a:pt x="1398058" y="0"/>
                  </a:lnTo>
                  <a:lnTo>
                    <a:pt x="1398058" y="455374"/>
                  </a:lnTo>
                  <a:lnTo>
                    <a:pt x="0" y="455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21" r="0" b="-98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98054" cy="483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8"/>
                </a:lnSpc>
              </a:pPr>
              <a:r>
                <a:rPr lang="en-US" sz="2101">
                  <a:solidFill>
                    <a:srgbClr val="0C0C0C"/>
                  </a:solidFill>
                  <a:latin typeface="Tinos"/>
                  <a:ea typeface="Tinos"/>
                  <a:cs typeface="Tinos"/>
                  <a:sym typeface="Tinos"/>
                </a:rPr>
                <a:t>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DAHX4jcZPHQ</dc:identifier>
  <dcterms:modified xsi:type="dcterms:W3CDTF">2011-08-01T06:04:30Z</dcterms:modified>
  <cp:revision>1</cp:revision>
  <dc:title>MCP ToolBench</dc:title>
</cp:coreProperties>
</file>