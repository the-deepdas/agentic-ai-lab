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libri (MS)" charset="1" panose="020F0502020204030204"/>
      <p:regular r:id="rId15"/>
    </p:embeddedFont>
    <p:embeddedFont>
      <p:font typeface="Calibri (MS) Bold" charset="1" panose="020F0702030404030204"/>
      <p:regular r:id="rId16"/>
    </p:embeddedFont>
    <p:embeddedFont>
      <p:font typeface="Calibri (MS) Italics" charset="1" panose="020F05020202040A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3608" y="1647206"/>
            <a:ext cx="1921745" cy="82363"/>
            <a:chOff x="0" y="0"/>
            <a:chExt cx="256232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2352" cy="109855"/>
            </a:xfrm>
            <a:custGeom>
              <a:avLst/>
              <a:gdLst/>
              <a:ahLst/>
              <a:cxnLst/>
              <a:rect r="r" b="b" t="t" l="l"/>
              <a:pathLst>
                <a:path h="109855" w="2562352">
                  <a:moveTo>
                    <a:pt x="0" y="0"/>
                  </a:moveTo>
                  <a:lnTo>
                    <a:pt x="2562352" y="0"/>
                  </a:lnTo>
                  <a:lnTo>
                    <a:pt x="2562352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1F2A6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69328" y="9666675"/>
            <a:ext cx="16517893" cy="39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F6373"/>
                </a:solidFill>
                <a:latin typeface="Calibri (MS)"/>
                <a:ea typeface="Calibri (MS)"/>
                <a:cs typeface="Calibri (MS)"/>
                <a:sym typeface="Calibri (MS)"/>
              </a:rPr>
              <a:t>AI465 Agentic AI  |  RP2  |  U23AI052  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857" y="2904439"/>
            <a:ext cx="15968824" cy="2009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Does a longer tool list hurt MCP tool selection?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857" y="5039649"/>
            <a:ext cx="15968824" cy="835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5 vs 20 vs 50 tools in context on a 200-task MCPToolBench++ subset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857" y="6284576"/>
            <a:ext cx="15968824" cy="68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5F6373"/>
                </a:solidFill>
                <a:latin typeface="Calibri (MS)"/>
                <a:ea typeface="Calibri (MS)"/>
                <a:cs typeface="Calibri (MS)"/>
                <a:sym typeface="Calibri (MS)"/>
              </a:rPr>
              <a:t>AI465 Agentic AI  |  Research Project, Phase 2: implementation and evaluation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857" y="6970909"/>
            <a:ext cx="15968824" cy="68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5F6373"/>
                </a:solidFill>
                <a:latin typeface="Calibri (MS)"/>
                <a:ea typeface="Calibri (MS)"/>
                <a:cs typeface="Calibri (MS)"/>
                <a:sym typeface="Calibri (MS)"/>
              </a:rPr>
              <a:t>U23AI052  |  Individual work  |  SVNIT Surat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9328" y="412613"/>
            <a:ext cx="16517893" cy="127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Objective, and what changed from Phase 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23608" y="1647206"/>
            <a:ext cx="1921745" cy="82363"/>
            <a:chOff x="0" y="0"/>
            <a:chExt cx="2562327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62352" cy="109855"/>
            </a:xfrm>
            <a:custGeom>
              <a:avLst/>
              <a:gdLst/>
              <a:ahLst/>
              <a:cxnLst/>
              <a:rect r="r" b="b" t="t" l="l"/>
              <a:pathLst>
                <a:path h="109855" w="2562352">
                  <a:moveTo>
                    <a:pt x="0" y="0"/>
                  </a:moveTo>
                  <a:lnTo>
                    <a:pt x="2562352" y="0"/>
                  </a:lnTo>
                  <a:lnTo>
                    <a:pt x="2562352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1F2A6B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869328" y="9666675"/>
            <a:ext cx="16517893" cy="39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F6373"/>
                </a:solidFill>
                <a:latin typeface="Calibri (MS)"/>
                <a:ea typeface="Calibri (MS)"/>
                <a:cs typeface="Calibri (MS)"/>
                <a:sym typeface="Calibri (MS)"/>
              </a:rPr>
              <a:t>AI465 Agentic AI  |  RP2  |  U23AI052   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3608" y="2059010"/>
            <a:ext cx="6314294" cy="7275166"/>
            <a:chOff x="0" y="0"/>
            <a:chExt cx="8419059" cy="97002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19084" cy="9700260"/>
            </a:xfrm>
            <a:custGeom>
              <a:avLst/>
              <a:gdLst/>
              <a:ahLst/>
              <a:cxnLst/>
              <a:rect r="r" b="b" t="t" l="l"/>
              <a:pathLst>
                <a:path h="9700260" w="8419084">
                  <a:moveTo>
                    <a:pt x="0" y="1403223"/>
                  </a:moveTo>
                  <a:cubicBezTo>
                    <a:pt x="0" y="628269"/>
                    <a:pt x="628269" y="0"/>
                    <a:pt x="1403223" y="0"/>
                  </a:cubicBezTo>
                  <a:lnTo>
                    <a:pt x="7015861" y="0"/>
                  </a:lnTo>
                  <a:cubicBezTo>
                    <a:pt x="7790815" y="0"/>
                    <a:pt x="8419084" y="628269"/>
                    <a:pt x="8419084" y="1403223"/>
                  </a:cubicBezTo>
                  <a:lnTo>
                    <a:pt x="8419084" y="8297037"/>
                  </a:lnTo>
                  <a:cubicBezTo>
                    <a:pt x="8419084" y="9071991"/>
                    <a:pt x="7790815" y="9700260"/>
                    <a:pt x="7015861" y="9700260"/>
                  </a:cubicBezTo>
                  <a:lnTo>
                    <a:pt x="1403223" y="9700260"/>
                  </a:lnTo>
                  <a:cubicBezTo>
                    <a:pt x="628269" y="9700260"/>
                    <a:pt x="0" y="9071991"/>
                    <a:pt x="0" y="8297037"/>
                  </a:cubicBezTo>
                  <a:close/>
                </a:path>
              </a:pathLst>
            </a:custGeom>
            <a:solidFill>
              <a:srgbClr val="F0F1F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3857" y="2157031"/>
            <a:ext cx="5673785" cy="6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Approved objective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857" y="3009214"/>
            <a:ext cx="5673785" cy="6022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Effect of tool-count context (5 vs 20 vs 50 tools) on MCP tool-selection accuracy and failure composition, on a stratified 200-task MCPToolBench++ subset (search, map, finance).</a:t>
            </a:r>
          </a:p>
          <a:p>
            <a:pPr algn="l">
              <a:lnSpc>
                <a:spcPts val="2882"/>
              </a:lnSpc>
            </a:pP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Metrics: AST accuracy, tokens, calls and latency per task, plus a failure taxonomy.</a:t>
            </a:r>
          </a:p>
          <a:p>
            <a:pPr algn="l">
              <a:lnSpc>
                <a:spcPts val="2882"/>
              </a:lnSpc>
            </a:pP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Fills the paper's gaps: no cost, no variance, no failure analysis.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95416" y="2019767"/>
            <a:ext cx="9791805" cy="6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Declared deviations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41136" y="2890228"/>
            <a:ext cx="983763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B1B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D1 Single-step only.</a:t>
            </a:r>
            <a:r>
              <a:rPr lang="en-US" sz="240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 Public data has no multi-step items for these domains, so no AST DAG.</a:t>
            </a: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B1B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D2 Deterministic scorer</a:t>
            </a:r>
            <a:r>
              <a:rPr lang="en-US" sz="240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 instead of the GPT-4o judge; audited against my labels.</a:t>
            </a:r>
          </a:p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B1B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D3 Missing required parameter</a:t>
            </a:r>
            <a:r>
              <a:rPr lang="en-US" sz="240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 counts as an error (stricter).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9328" y="412613"/>
            <a:ext cx="16517893" cy="127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Design: the tool list is the only thing that changes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23608" y="1647206"/>
            <a:ext cx="1921745" cy="82363"/>
            <a:chOff x="0" y="0"/>
            <a:chExt cx="2562327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62352" cy="109855"/>
            </a:xfrm>
            <a:custGeom>
              <a:avLst/>
              <a:gdLst/>
              <a:ahLst/>
              <a:cxnLst/>
              <a:rect r="r" b="b" t="t" l="l"/>
              <a:pathLst>
                <a:path h="109855" w="2562352">
                  <a:moveTo>
                    <a:pt x="0" y="0"/>
                  </a:moveTo>
                  <a:lnTo>
                    <a:pt x="2562352" y="0"/>
                  </a:lnTo>
                  <a:lnTo>
                    <a:pt x="2562352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1F2A6B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869328" y="9666675"/>
            <a:ext cx="16517893" cy="39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F6373"/>
                </a:solidFill>
                <a:latin typeface="Calibri (MS)"/>
                <a:ea typeface="Calibri (MS)"/>
                <a:cs typeface="Calibri (MS)"/>
                <a:sym typeface="Calibri (MS)"/>
              </a:rPr>
              <a:t>AI465 Agentic AI  |  RP2  |  U23AI052   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60872" y="2127647"/>
            <a:ext cx="13177657" cy="603980"/>
            <a:chOff x="0" y="0"/>
            <a:chExt cx="17570209" cy="8053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70196" cy="805307"/>
            </a:xfrm>
            <a:custGeom>
              <a:avLst/>
              <a:gdLst/>
              <a:ahLst/>
              <a:cxnLst/>
              <a:rect r="r" b="b" t="t" l="l"/>
              <a:pathLst>
                <a:path h="805307" w="17570196">
                  <a:moveTo>
                    <a:pt x="0" y="0"/>
                  </a:moveTo>
                  <a:lnTo>
                    <a:pt x="17570196" y="0"/>
                  </a:lnTo>
                  <a:lnTo>
                    <a:pt x="17570196" y="805307"/>
                  </a:lnTo>
                  <a:lnTo>
                    <a:pt x="0" y="805307"/>
                  </a:lnTo>
                  <a:close/>
                </a:path>
              </a:pathLst>
            </a:custGeom>
            <a:solidFill>
              <a:srgbClr val="C9D6F2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3857" y="2134905"/>
            <a:ext cx="2928442" cy="54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B1B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50 tools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60872" y="2841431"/>
            <a:ext cx="8510568" cy="603980"/>
            <a:chOff x="0" y="0"/>
            <a:chExt cx="11347425" cy="8053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47450" cy="805307"/>
            </a:xfrm>
            <a:custGeom>
              <a:avLst/>
              <a:gdLst/>
              <a:ahLst/>
              <a:cxnLst/>
              <a:rect r="r" b="b" t="t" l="l"/>
              <a:pathLst>
                <a:path h="805307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805307"/>
                  </a:lnTo>
                  <a:lnTo>
                    <a:pt x="0" y="805307"/>
                  </a:lnTo>
                  <a:close/>
                </a:path>
              </a:pathLst>
            </a:custGeom>
            <a:solidFill>
              <a:srgbClr val="8FAEE8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43857" y="2848689"/>
            <a:ext cx="2928442" cy="54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B1B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 tools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872" y="3555225"/>
            <a:ext cx="3568951" cy="603980"/>
            <a:chOff x="0" y="0"/>
            <a:chExt cx="4758601" cy="8053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8563" cy="805307"/>
            </a:xfrm>
            <a:custGeom>
              <a:avLst/>
              <a:gdLst/>
              <a:ahLst/>
              <a:cxnLst/>
              <a:rect r="r" b="b" t="t" l="l"/>
              <a:pathLst>
                <a:path h="805307" w="4758563">
                  <a:moveTo>
                    <a:pt x="0" y="0"/>
                  </a:moveTo>
                  <a:lnTo>
                    <a:pt x="4758563" y="0"/>
                  </a:lnTo>
                  <a:lnTo>
                    <a:pt x="4758563" y="805307"/>
                  </a:lnTo>
                  <a:lnTo>
                    <a:pt x="0" y="805307"/>
                  </a:lnTo>
                  <a:close/>
                </a:path>
              </a:pathLst>
            </a:custGeom>
            <a:solidFill>
              <a:srgbClr val="2E6FD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43857" y="3562483"/>
            <a:ext cx="2928442" cy="54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 tools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6592" y="4303728"/>
            <a:ext cx="16243363" cy="54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i="true">
                <a:solidFill>
                  <a:srgbClr val="5F637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gold tool + up to 2 labelled similar tools are always present; distractors come from one seeded permutation per task</a:t>
            </a:r>
          </a:p>
        </p:txBody>
      </p: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960871" y="5216155"/>
          <a:ext cx="16319550" cy="3431681"/>
        </p:xfrm>
        <a:graphic>
          <a:graphicData uri="http://schemas.openxmlformats.org/drawingml/2006/table">
            <a:tbl>
              <a:tblPr/>
              <a:tblGrid>
                <a:gridCol w="4114172"/>
                <a:gridCol w="6719815"/>
                <a:gridCol w="5485563"/>
              </a:tblGrid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Condition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What differs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Isolates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6B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c05 / c20 / c50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5, 20, 50 tools in context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effect of tool count (the objective)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c50_goldfirst / goldlast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gold tool placed first or last at 50 tools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position of the right tool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c05_padded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 tools + neutral text to the 50-tool length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context length vs number of choices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c05_sc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 tools, 8 samples, majority vote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matched token budget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</a:tr>
            </a:tbl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1006592" y="8764915"/>
            <a:ext cx="16243363" cy="67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Same system and user prompt files in every condition (a test asserts it). Every run: 200 tasks x 3 repetitions, temperature and seed pinned.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9328" y="412613"/>
            <a:ext cx="16517893" cy="127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I built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23608" y="1647206"/>
            <a:ext cx="1921745" cy="82363"/>
            <a:chOff x="0" y="0"/>
            <a:chExt cx="2562327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62352" cy="109855"/>
            </a:xfrm>
            <a:custGeom>
              <a:avLst/>
              <a:gdLst/>
              <a:ahLst/>
              <a:cxnLst/>
              <a:rect r="r" b="b" t="t" l="l"/>
              <a:pathLst>
                <a:path h="109855" w="2562352">
                  <a:moveTo>
                    <a:pt x="0" y="0"/>
                  </a:moveTo>
                  <a:lnTo>
                    <a:pt x="2562352" y="0"/>
                  </a:lnTo>
                  <a:lnTo>
                    <a:pt x="2562352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1F2A6B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869328" y="9666675"/>
            <a:ext cx="16517893" cy="39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F6373"/>
                </a:solidFill>
                <a:latin typeface="Calibri (MS)"/>
                <a:ea typeface="Calibri (MS)"/>
                <a:cs typeface="Calibri (MS)"/>
                <a:sym typeface="Calibri (MS)"/>
              </a:rPr>
              <a:t>AI465 Agentic AI  |  RP2  |  U23AI052   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3608" y="2333539"/>
            <a:ext cx="2539441" cy="2196274"/>
            <a:chOff x="0" y="0"/>
            <a:chExt cx="3385922" cy="29283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85947" cy="2928366"/>
            </a:xfrm>
            <a:custGeom>
              <a:avLst/>
              <a:gdLst/>
              <a:ahLst/>
              <a:cxnLst/>
              <a:rect r="r" b="b" t="t" l="l"/>
              <a:pathLst>
                <a:path h="2928366" w="3385947">
                  <a:moveTo>
                    <a:pt x="0" y="488061"/>
                  </a:moveTo>
                  <a:cubicBezTo>
                    <a:pt x="0" y="218567"/>
                    <a:pt x="218567" y="0"/>
                    <a:pt x="488061" y="0"/>
                  </a:cubicBezTo>
                  <a:lnTo>
                    <a:pt x="2897886" y="0"/>
                  </a:lnTo>
                  <a:cubicBezTo>
                    <a:pt x="3167380" y="0"/>
                    <a:pt x="3385947" y="218567"/>
                    <a:pt x="3385947" y="488061"/>
                  </a:cubicBezTo>
                  <a:lnTo>
                    <a:pt x="3385947" y="2440305"/>
                  </a:lnTo>
                  <a:cubicBezTo>
                    <a:pt x="3385947" y="2709799"/>
                    <a:pt x="3167380" y="2928366"/>
                    <a:pt x="2897886" y="2928366"/>
                  </a:cubicBezTo>
                  <a:lnTo>
                    <a:pt x="488061" y="2928366"/>
                  </a:lnTo>
                  <a:cubicBezTo>
                    <a:pt x="218567" y="2928366"/>
                    <a:pt x="0" y="2709799"/>
                    <a:pt x="0" y="2440305"/>
                  </a:cubicBezTo>
                  <a:close/>
                </a:path>
              </a:pathLst>
            </a:custGeom>
            <a:solidFill>
              <a:srgbClr val="F0F1F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37955" y="2441096"/>
            <a:ext cx="2310736" cy="68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Subset builder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7955" y="3146479"/>
            <a:ext cx="2310736" cy="121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200 tasks, 87-tool pool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81318" y="2980639"/>
            <a:ext cx="320364" cy="6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706216" y="2333539"/>
            <a:ext cx="2539441" cy="2196274"/>
            <a:chOff x="0" y="0"/>
            <a:chExt cx="3385922" cy="29283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85947" cy="2928366"/>
            </a:xfrm>
            <a:custGeom>
              <a:avLst/>
              <a:gdLst/>
              <a:ahLst/>
              <a:cxnLst/>
              <a:rect r="r" b="b" t="t" l="l"/>
              <a:pathLst>
                <a:path h="2928366" w="3385947">
                  <a:moveTo>
                    <a:pt x="0" y="488061"/>
                  </a:moveTo>
                  <a:cubicBezTo>
                    <a:pt x="0" y="218567"/>
                    <a:pt x="218567" y="0"/>
                    <a:pt x="488061" y="0"/>
                  </a:cubicBezTo>
                  <a:lnTo>
                    <a:pt x="2897886" y="0"/>
                  </a:lnTo>
                  <a:cubicBezTo>
                    <a:pt x="3167380" y="0"/>
                    <a:pt x="3385947" y="218567"/>
                    <a:pt x="3385947" y="488061"/>
                  </a:cubicBezTo>
                  <a:lnTo>
                    <a:pt x="3385947" y="2440305"/>
                  </a:lnTo>
                  <a:cubicBezTo>
                    <a:pt x="3385947" y="2709799"/>
                    <a:pt x="3167380" y="2928366"/>
                    <a:pt x="2897886" y="2928366"/>
                  </a:cubicBezTo>
                  <a:lnTo>
                    <a:pt x="488061" y="2928366"/>
                  </a:lnTo>
                  <a:cubicBezTo>
                    <a:pt x="218567" y="2928366"/>
                    <a:pt x="0" y="2709799"/>
                    <a:pt x="0" y="2440305"/>
                  </a:cubicBezTo>
                  <a:close/>
                </a:path>
              </a:pathLst>
            </a:custGeom>
            <a:solidFill>
              <a:srgbClr val="F0F1F5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820573" y="2441096"/>
            <a:ext cx="2310736" cy="68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Condition builder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20573" y="3146479"/>
            <a:ext cx="2310736" cy="121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nested tool lists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63926" y="2980639"/>
            <a:ext cx="320364" cy="6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88824" y="2333539"/>
            <a:ext cx="2539441" cy="2196274"/>
            <a:chOff x="0" y="0"/>
            <a:chExt cx="3385922" cy="29283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85947" cy="2928366"/>
            </a:xfrm>
            <a:custGeom>
              <a:avLst/>
              <a:gdLst/>
              <a:ahLst/>
              <a:cxnLst/>
              <a:rect r="r" b="b" t="t" l="l"/>
              <a:pathLst>
                <a:path h="2928366" w="3385947">
                  <a:moveTo>
                    <a:pt x="0" y="488061"/>
                  </a:moveTo>
                  <a:cubicBezTo>
                    <a:pt x="0" y="218567"/>
                    <a:pt x="218567" y="0"/>
                    <a:pt x="488061" y="0"/>
                  </a:cubicBezTo>
                  <a:lnTo>
                    <a:pt x="2897886" y="0"/>
                  </a:lnTo>
                  <a:cubicBezTo>
                    <a:pt x="3167380" y="0"/>
                    <a:pt x="3385947" y="218567"/>
                    <a:pt x="3385947" y="488061"/>
                  </a:cubicBezTo>
                  <a:lnTo>
                    <a:pt x="3385947" y="2440305"/>
                  </a:lnTo>
                  <a:cubicBezTo>
                    <a:pt x="3385947" y="2709799"/>
                    <a:pt x="3167380" y="2928366"/>
                    <a:pt x="2897886" y="2928366"/>
                  </a:cubicBezTo>
                  <a:lnTo>
                    <a:pt x="488061" y="2928366"/>
                  </a:lnTo>
                  <a:cubicBezTo>
                    <a:pt x="218567" y="2928366"/>
                    <a:pt x="0" y="2709799"/>
                    <a:pt x="0" y="2440305"/>
                  </a:cubicBezTo>
                  <a:close/>
                </a:path>
              </a:pathLst>
            </a:custGeom>
            <a:solidFill>
              <a:srgbClr val="F0F1F5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703181" y="2441096"/>
            <a:ext cx="2310736" cy="68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Runner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03181" y="3146479"/>
            <a:ext cx="2310736" cy="121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model adapters, retries, resume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6534" y="2980639"/>
            <a:ext cx="320364" cy="6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71441" y="2333539"/>
            <a:ext cx="2539441" cy="2196274"/>
            <a:chOff x="0" y="0"/>
            <a:chExt cx="3385922" cy="292836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85947" cy="2928366"/>
            </a:xfrm>
            <a:custGeom>
              <a:avLst/>
              <a:gdLst/>
              <a:ahLst/>
              <a:cxnLst/>
              <a:rect r="r" b="b" t="t" l="l"/>
              <a:pathLst>
                <a:path h="2928366" w="3385947">
                  <a:moveTo>
                    <a:pt x="0" y="488061"/>
                  </a:moveTo>
                  <a:cubicBezTo>
                    <a:pt x="0" y="218567"/>
                    <a:pt x="218567" y="0"/>
                    <a:pt x="488061" y="0"/>
                  </a:cubicBezTo>
                  <a:lnTo>
                    <a:pt x="2897886" y="0"/>
                  </a:lnTo>
                  <a:cubicBezTo>
                    <a:pt x="3167380" y="0"/>
                    <a:pt x="3385947" y="218567"/>
                    <a:pt x="3385947" y="488061"/>
                  </a:cubicBezTo>
                  <a:lnTo>
                    <a:pt x="3385947" y="2440305"/>
                  </a:lnTo>
                  <a:cubicBezTo>
                    <a:pt x="3385947" y="2709799"/>
                    <a:pt x="3167380" y="2928366"/>
                    <a:pt x="2897886" y="2928366"/>
                  </a:cubicBezTo>
                  <a:lnTo>
                    <a:pt x="488061" y="2928366"/>
                  </a:lnTo>
                  <a:cubicBezTo>
                    <a:pt x="218567" y="2928366"/>
                    <a:pt x="0" y="2709799"/>
                    <a:pt x="0" y="2440305"/>
                  </a:cubicBezTo>
                  <a:close/>
                </a:path>
              </a:pathLst>
            </a:custGeom>
            <a:solidFill>
              <a:srgbClr val="F0F1F5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585789" y="2441096"/>
            <a:ext cx="2310736" cy="68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Traces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85789" y="3146479"/>
            <a:ext cx="2310736" cy="121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prompt, tools, response, usage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29151" y="2980639"/>
            <a:ext cx="320364" cy="6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354049" y="2333539"/>
            <a:ext cx="2539441" cy="2196274"/>
            <a:chOff x="0" y="0"/>
            <a:chExt cx="3385922" cy="29283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85947" cy="2928366"/>
            </a:xfrm>
            <a:custGeom>
              <a:avLst/>
              <a:gdLst/>
              <a:ahLst/>
              <a:cxnLst/>
              <a:rect r="r" b="b" t="t" l="l"/>
              <a:pathLst>
                <a:path h="2928366" w="3385947">
                  <a:moveTo>
                    <a:pt x="0" y="488061"/>
                  </a:moveTo>
                  <a:cubicBezTo>
                    <a:pt x="0" y="218567"/>
                    <a:pt x="218567" y="0"/>
                    <a:pt x="488061" y="0"/>
                  </a:cubicBezTo>
                  <a:lnTo>
                    <a:pt x="2897886" y="0"/>
                  </a:lnTo>
                  <a:cubicBezTo>
                    <a:pt x="3167380" y="0"/>
                    <a:pt x="3385947" y="218567"/>
                    <a:pt x="3385947" y="488061"/>
                  </a:cubicBezTo>
                  <a:lnTo>
                    <a:pt x="3385947" y="2440305"/>
                  </a:lnTo>
                  <a:cubicBezTo>
                    <a:pt x="3385947" y="2709799"/>
                    <a:pt x="3167380" y="2928366"/>
                    <a:pt x="2897886" y="2928366"/>
                  </a:cubicBezTo>
                  <a:lnTo>
                    <a:pt x="488061" y="2928366"/>
                  </a:lnTo>
                  <a:cubicBezTo>
                    <a:pt x="218567" y="2928366"/>
                    <a:pt x="0" y="2709799"/>
                    <a:pt x="0" y="2440305"/>
                  </a:cubicBezTo>
                  <a:close/>
                </a:path>
              </a:pathLst>
            </a:custGeom>
            <a:solidFill>
              <a:srgbClr val="F0F1F5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468406" y="2441096"/>
            <a:ext cx="2310736" cy="68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Scorer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68406" y="3146479"/>
            <a:ext cx="2310736" cy="121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tool_ok, param_ok, 9 failure labels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911759" y="2980639"/>
            <a:ext cx="320364" cy="6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→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5236666" y="2333539"/>
            <a:ext cx="2539441" cy="2196274"/>
            <a:chOff x="0" y="0"/>
            <a:chExt cx="3385922" cy="292836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85947" cy="2928366"/>
            </a:xfrm>
            <a:custGeom>
              <a:avLst/>
              <a:gdLst/>
              <a:ahLst/>
              <a:cxnLst/>
              <a:rect r="r" b="b" t="t" l="l"/>
              <a:pathLst>
                <a:path h="2928366" w="3385947">
                  <a:moveTo>
                    <a:pt x="0" y="488061"/>
                  </a:moveTo>
                  <a:cubicBezTo>
                    <a:pt x="0" y="218567"/>
                    <a:pt x="218567" y="0"/>
                    <a:pt x="488061" y="0"/>
                  </a:cubicBezTo>
                  <a:lnTo>
                    <a:pt x="2897886" y="0"/>
                  </a:lnTo>
                  <a:cubicBezTo>
                    <a:pt x="3167380" y="0"/>
                    <a:pt x="3385947" y="218567"/>
                    <a:pt x="3385947" y="488061"/>
                  </a:cubicBezTo>
                  <a:lnTo>
                    <a:pt x="3385947" y="2440305"/>
                  </a:lnTo>
                  <a:cubicBezTo>
                    <a:pt x="3385947" y="2709799"/>
                    <a:pt x="3167380" y="2928366"/>
                    <a:pt x="2897886" y="2928366"/>
                  </a:cubicBezTo>
                  <a:lnTo>
                    <a:pt x="488061" y="2928366"/>
                  </a:lnTo>
                  <a:cubicBezTo>
                    <a:pt x="218567" y="2928366"/>
                    <a:pt x="0" y="2709799"/>
                    <a:pt x="0" y="2440305"/>
                  </a:cubicBezTo>
                  <a:close/>
                </a:path>
              </a:pathLst>
            </a:custGeom>
            <a:solidFill>
              <a:srgbClr val="F0F1F5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5351014" y="2441096"/>
            <a:ext cx="2310736" cy="68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Aggregate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351014" y="3146479"/>
            <a:ext cx="2310736" cy="121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mean±SD, bootstrap, figures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52312" y="5076987"/>
            <a:ext cx="16289188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B1B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Own code:</a:t>
            </a:r>
            <a:r>
              <a:rPr lang="en-US" sz="255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 runner, condition builder, scorer, statistics, report and slide generators, tests.</a:t>
            </a:r>
          </a:p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B1B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Borrowed:</a:t>
            </a:r>
            <a:r>
              <a:rPr lang="en-US" sz="255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 the benchmark's task data and labels (commit 2bd35e5); its judge rules re-implemented, no code imported.</a:t>
            </a:r>
          </a:p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B1B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Robustness:</a:t>
            </a:r>
            <a:r>
              <a:rPr lang="en-US" sz="255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 retries with backoff, rate limit, resume, jobs interleaved across conditions so model drift hits all of them.</a:t>
            </a:r>
          </a:p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B1B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Checked:</a:t>
            </a:r>
            <a:r>
              <a:rPr lang="en-US" sz="255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 oracle test (200 gold labels score 100%), perturbation tests, 20-task audit against my own labels.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9328" y="412613"/>
            <a:ext cx="16517893" cy="127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Experimental protocol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23608" y="1647206"/>
            <a:ext cx="1921745" cy="82363"/>
            <a:chOff x="0" y="0"/>
            <a:chExt cx="2562327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62352" cy="109855"/>
            </a:xfrm>
            <a:custGeom>
              <a:avLst/>
              <a:gdLst/>
              <a:ahLst/>
              <a:cxnLst/>
              <a:rect r="r" b="b" t="t" l="l"/>
              <a:pathLst>
                <a:path h="109855" w="2562352">
                  <a:moveTo>
                    <a:pt x="0" y="0"/>
                  </a:moveTo>
                  <a:lnTo>
                    <a:pt x="2562352" y="0"/>
                  </a:lnTo>
                  <a:lnTo>
                    <a:pt x="2562352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1F2A6B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869328" y="9666675"/>
            <a:ext cx="16517893" cy="39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F6373"/>
                </a:solidFill>
                <a:latin typeface="Calibri (MS)"/>
                <a:ea typeface="Calibri (MS)"/>
                <a:cs typeface="Calibri (MS)"/>
                <a:sym typeface="Calibri (MS)"/>
              </a:rPr>
              <a:t>AI465 Agentic AI  |  RP2  |  U23AI052   5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60871" y="2196276"/>
          <a:ext cx="16319550" cy="6558324"/>
        </p:xfrm>
        <a:graphic>
          <a:graphicData uri="http://schemas.openxmlformats.org/drawingml/2006/table">
            <a:tbl>
              <a:tblPr/>
              <a:tblGrid>
                <a:gridCol w="4114172"/>
                <a:gridCol w="12205377"/>
              </a:tblGrid>
              <a:tr h="8197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Requirement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How it is met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6B"/>
                    </a:solidFill>
                  </a:tcPr>
                </a:tc>
              </a:tr>
              <a:tr h="8197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Repetition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 full passes per condition; mean ± SD over runs; paired bootstrap over tasks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97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Pinned configuration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configs/config.yaml, manifest.json per run: model string asked and returned, temperature, top-p, seed, dates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</a:tr>
              <a:tr h="8197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Prompts as artefacts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prompts/*.txt; conditions differ only in the tool list (padding arm adds neutral text)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97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Metrics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tool and AST accuracy; model calls, input and output tokens, latency per task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</a:tr>
              <a:tr h="8197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Traces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every call: full prompt, tool list, raw response, usage, score, failure label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97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Judging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LLM judge; deterministic scorer checked on 20 tasks against my labels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</a:tr>
              <a:tr h="8197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Reproducibility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one command per table; README states runtime and token cost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9328" y="412613"/>
            <a:ext cx="16517893" cy="127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Results: accuracy vs number of tools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23608" y="1647206"/>
            <a:ext cx="1921745" cy="82363"/>
            <a:chOff x="0" y="0"/>
            <a:chExt cx="2562327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62352" cy="109855"/>
            </a:xfrm>
            <a:custGeom>
              <a:avLst/>
              <a:gdLst/>
              <a:ahLst/>
              <a:cxnLst/>
              <a:rect r="r" b="b" t="t" l="l"/>
              <a:pathLst>
                <a:path h="109855" w="2562352">
                  <a:moveTo>
                    <a:pt x="0" y="0"/>
                  </a:moveTo>
                  <a:lnTo>
                    <a:pt x="2562352" y="0"/>
                  </a:lnTo>
                  <a:lnTo>
                    <a:pt x="2562352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1F2A6B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869328" y="9666675"/>
            <a:ext cx="16517893" cy="39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F6373"/>
                </a:solidFill>
                <a:latin typeface="Calibri (MS)"/>
                <a:ea typeface="Calibri (MS)"/>
                <a:cs typeface="Calibri (MS)"/>
                <a:sym typeface="Calibri (MS)"/>
              </a:rPr>
              <a:t>AI465 Agentic AI  |  RP2  |  U23AI052   6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92175" y="1043231"/>
            <a:ext cx="12189331" cy="9306719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11393176" y="2196274"/>
            <a:ext cx="6177029" cy="2882608"/>
            <a:chOff x="0" y="0"/>
            <a:chExt cx="8236039" cy="38434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36077" cy="3843528"/>
            </a:xfrm>
            <a:custGeom>
              <a:avLst/>
              <a:gdLst/>
              <a:ahLst/>
              <a:cxnLst/>
              <a:rect r="r" b="b" t="t" l="l"/>
              <a:pathLst>
                <a:path h="3843528" w="8236077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lnTo>
                    <a:pt x="7595489" y="0"/>
                  </a:lnTo>
                  <a:cubicBezTo>
                    <a:pt x="7949311" y="0"/>
                    <a:pt x="8236077" y="286766"/>
                    <a:pt x="8236077" y="640588"/>
                  </a:cubicBezTo>
                  <a:lnTo>
                    <a:pt x="8236077" y="3202940"/>
                  </a:lnTo>
                  <a:cubicBezTo>
                    <a:pt x="8236077" y="3556762"/>
                    <a:pt x="7949311" y="3843528"/>
                    <a:pt x="7595489" y="3843528"/>
                  </a:cubicBezTo>
                  <a:lnTo>
                    <a:pt x="640588" y="3843528"/>
                  </a:lnTo>
                  <a:cubicBezTo>
                    <a:pt x="286766" y="3843528"/>
                    <a:pt x="0" y="3556635"/>
                    <a:pt x="0" y="3202940"/>
                  </a:cubicBezTo>
                  <a:close/>
                </a:path>
              </a:pathLst>
            </a:custGeom>
            <a:solidFill>
              <a:srgbClr val="F0F1F5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644798" y="2303821"/>
            <a:ext cx="5673785" cy="261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AST accuracy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30.8%  -&gt;  19.3%  -&gt;  15.3%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run-to-run SD 2.8 / 1.5 / 1.2 pp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393176" y="5422059"/>
            <a:ext cx="6177029" cy="2882608"/>
            <a:chOff x="0" y="0"/>
            <a:chExt cx="8236039" cy="38434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36077" cy="3843528"/>
            </a:xfrm>
            <a:custGeom>
              <a:avLst/>
              <a:gdLst/>
              <a:ahLst/>
              <a:cxnLst/>
              <a:rect r="r" b="b" t="t" l="l"/>
              <a:pathLst>
                <a:path h="3843528" w="8236077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lnTo>
                    <a:pt x="7595489" y="0"/>
                  </a:lnTo>
                  <a:cubicBezTo>
                    <a:pt x="7949311" y="0"/>
                    <a:pt x="8236077" y="286766"/>
                    <a:pt x="8236077" y="640588"/>
                  </a:cubicBezTo>
                  <a:lnTo>
                    <a:pt x="8236077" y="3202940"/>
                  </a:lnTo>
                  <a:cubicBezTo>
                    <a:pt x="8236077" y="3556762"/>
                    <a:pt x="7949311" y="3843528"/>
                    <a:pt x="7595489" y="3843528"/>
                  </a:cubicBezTo>
                  <a:lnTo>
                    <a:pt x="640588" y="3843528"/>
                  </a:lnTo>
                  <a:cubicBezTo>
                    <a:pt x="286766" y="3843528"/>
                    <a:pt x="0" y="3556635"/>
                    <a:pt x="0" y="3202940"/>
                  </a:cubicBezTo>
                  <a:close/>
                </a:path>
              </a:pathLst>
            </a:custGeom>
            <a:solidFill>
              <a:srgbClr val="F0F1F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644798" y="5529605"/>
            <a:ext cx="5673785" cy="261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5 to 50 tools, paired bootstrap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-15.5 pp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95% CI [-20.0, -11.2]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outside noise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8896" y="8637165"/>
            <a:ext cx="6085589" cy="53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373"/>
                </a:solidFill>
                <a:latin typeface="Calibri (MS)"/>
                <a:ea typeface="Calibri (MS)"/>
                <a:cs typeface="Calibri (MS)"/>
                <a:sym typeface="Calibri (MS)"/>
              </a:rPr>
              <a:t>Mean over 3 runs x 200 tasks.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9328" y="412613"/>
            <a:ext cx="16517893" cy="127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Results: what the extra tools cost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23608" y="1647206"/>
            <a:ext cx="1921745" cy="82363"/>
            <a:chOff x="0" y="0"/>
            <a:chExt cx="2562327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62352" cy="109855"/>
            </a:xfrm>
            <a:custGeom>
              <a:avLst/>
              <a:gdLst/>
              <a:ahLst/>
              <a:cxnLst/>
              <a:rect r="r" b="b" t="t" l="l"/>
              <a:pathLst>
                <a:path h="109855" w="2562352">
                  <a:moveTo>
                    <a:pt x="0" y="0"/>
                  </a:moveTo>
                  <a:lnTo>
                    <a:pt x="2562352" y="0"/>
                  </a:lnTo>
                  <a:lnTo>
                    <a:pt x="2562352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1F2A6B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869328" y="9666675"/>
            <a:ext cx="16517893" cy="39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F6373"/>
                </a:solidFill>
                <a:latin typeface="Calibri (MS)"/>
                <a:ea typeface="Calibri (MS)"/>
                <a:cs typeface="Calibri (MS)"/>
                <a:sym typeface="Calibri (MS)"/>
              </a:rPr>
              <a:t>AI465 Agentic AI  |  RP2  |  U23AI052   7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7454" y="1207952"/>
            <a:ext cx="10212683" cy="8977278"/>
          </a:xfrm>
          <a:prstGeom prst="rect">
            <a:avLst/>
          </a:prstGeom>
        </p:spPr>
      </p:pic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745974" y="2333543"/>
          <a:ext cx="7778477" cy="3431681"/>
        </p:xfrm>
        <a:graphic>
          <a:graphicData uri="http://schemas.openxmlformats.org/drawingml/2006/table">
            <a:tbl>
              <a:tblPr/>
              <a:tblGrid>
                <a:gridCol w="3138684"/>
                <a:gridCol w="1228181"/>
                <a:gridCol w="1637574"/>
                <a:gridCol w="1774039"/>
              </a:tblGrid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Condition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AST %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Latency s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Tok / correct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6B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 tools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30.8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0.00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4517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 tools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19.3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0.00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23421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 tools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15.3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0.00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69975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63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 tools, self-consistency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36.0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0.00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30965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9791690" y="6294101"/>
            <a:ext cx="7732795" cy="109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F6373"/>
                </a:solidFill>
                <a:latin typeface="Calibri (MS)"/>
                <a:ea typeface="Calibri (MS)"/>
                <a:cs typeface="Calibri (MS)"/>
                <a:sym typeface="Calibri (MS)"/>
              </a:rPr>
              <a:t>Calls per task: 1 in every condition except self-consistency (k votes).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9328" y="412613"/>
            <a:ext cx="16517893" cy="127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Ablations: what explains the effect?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23608" y="1647206"/>
            <a:ext cx="1921745" cy="82363"/>
            <a:chOff x="0" y="0"/>
            <a:chExt cx="2562327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62352" cy="109855"/>
            </a:xfrm>
            <a:custGeom>
              <a:avLst/>
              <a:gdLst/>
              <a:ahLst/>
              <a:cxnLst/>
              <a:rect r="r" b="b" t="t" l="l"/>
              <a:pathLst>
                <a:path h="109855" w="2562352">
                  <a:moveTo>
                    <a:pt x="0" y="0"/>
                  </a:moveTo>
                  <a:lnTo>
                    <a:pt x="2562352" y="0"/>
                  </a:lnTo>
                  <a:lnTo>
                    <a:pt x="2562352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1F2A6B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869328" y="9666675"/>
            <a:ext cx="16517893" cy="39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F6373"/>
                </a:solidFill>
                <a:latin typeface="Calibri (MS)"/>
                <a:ea typeface="Calibri (MS)"/>
                <a:cs typeface="Calibri (MS)"/>
                <a:sym typeface="Calibri (MS)"/>
              </a:rPr>
              <a:t>AI465 Agentic AI  |  RP2  |  U23AI052   8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60871" y="2333543"/>
          <a:ext cx="16281420" cy="4918743"/>
        </p:xfrm>
        <a:graphic>
          <a:graphicData uri="http://schemas.openxmlformats.org/drawingml/2006/table">
            <a:tbl>
              <a:tblPr/>
              <a:tblGrid>
                <a:gridCol w="7114570"/>
                <a:gridCol w="2599554"/>
                <a:gridCol w="1915461"/>
                <a:gridCol w="3010010"/>
                <a:gridCol w="1641824"/>
              </a:tblGrid>
              <a:tr h="8197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Comparison (AST accuracy)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Factor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Diff (pp)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95% CI (pp)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Beyond noise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6B"/>
                    </a:solidFill>
                  </a:tcPr>
                </a:tc>
              </a:tr>
              <a:tr h="8197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 tools: gold first vs shuffled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position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+0.3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[-2.5, +3.2]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97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 tools: gold last vs shuffled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position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+0.5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[-2.5, +3.7]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</a:tr>
              <a:tr h="8197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 tools padded to 50-tool length vs plain 5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context length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+0.0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[+0.0, +0.0]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97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 tools, 8 votes vs plain 5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budget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+5.2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[+2.7, +7.7]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yes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5"/>
                    </a:solidFill>
                  </a:tcPr>
                </a:tc>
              </a:tr>
              <a:tr h="8197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 tools vs 5 tools with 8 votes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matched budget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-20.7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[-26.0, -15.8]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B1B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yes</a:t>
                      </a:r>
                      <a:endParaRPr lang="en-US" sz="1100"/>
                    </a:p>
                  </a:txBody>
                  <a:tcPr marL="54864" marR="54864" marT="54864" marB="54864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006592" y="8490375"/>
            <a:ext cx="16243363" cy="67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F6373"/>
                </a:solidFill>
                <a:latin typeface="Calibri (MS)"/>
                <a:ea typeface="Calibri (MS)"/>
                <a:cs typeface="Calibri (MS)"/>
                <a:sym typeface="Calibri (MS)"/>
              </a:rPr>
              <a:t>Differences are computed per task (mean over runs) and bootstrapped over the 200 tasks.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9328" y="412613"/>
            <a:ext cx="16517893" cy="127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1F2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it fails: taxonomy and a traced case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23608" y="1647206"/>
            <a:ext cx="1921745" cy="82363"/>
            <a:chOff x="0" y="0"/>
            <a:chExt cx="2562327" cy="1098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62352" cy="109855"/>
            </a:xfrm>
            <a:custGeom>
              <a:avLst/>
              <a:gdLst/>
              <a:ahLst/>
              <a:cxnLst/>
              <a:rect r="r" b="b" t="t" l="l"/>
              <a:pathLst>
                <a:path h="109855" w="2562352">
                  <a:moveTo>
                    <a:pt x="0" y="0"/>
                  </a:moveTo>
                  <a:lnTo>
                    <a:pt x="2562352" y="0"/>
                  </a:lnTo>
                  <a:lnTo>
                    <a:pt x="2562352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1F2A6B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869328" y="9666675"/>
            <a:ext cx="16517893" cy="39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F6373"/>
                </a:solidFill>
                <a:latin typeface="Calibri (MS)"/>
                <a:ea typeface="Calibri (MS)"/>
                <a:cs typeface="Calibri (MS)"/>
                <a:sym typeface="Calibri (MS)"/>
              </a:rPr>
              <a:t>AI465 Agentic AI  |  RP2  |  U23AI052   9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907" y="1290313"/>
            <a:ext cx="9224358" cy="8812557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8922372" y="2196274"/>
            <a:ext cx="8647833" cy="7137892"/>
            <a:chOff x="0" y="0"/>
            <a:chExt cx="11530444" cy="95171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530457" cy="9517253"/>
            </a:xfrm>
            <a:custGeom>
              <a:avLst/>
              <a:gdLst/>
              <a:ahLst/>
              <a:cxnLst/>
              <a:rect r="r" b="b" t="t" l="l"/>
              <a:pathLst>
                <a:path h="9517253" w="11530457">
                  <a:moveTo>
                    <a:pt x="0" y="1586230"/>
                  </a:moveTo>
                  <a:cubicBezTo>
                    <a:pt x="0" y="710184"/>
                    <a:pt x="710184" y="0"/>
                    <a:pt x="1586230" y="0"/>
                  </a:cubicBezTo>
                  <a:lnTo>
                    <a:pt x="9944227" y="0"/>
                  </a:lnTo>
                  <a:cubicBezTo>
                    <a:pt x="10820273" y="0"/>
                    <a:pt x="11530457" y="710184"/>
                    <a:pt x="11530457" y="1586230"/>
                  </a:cubicBezTo>
                  <a:lnTo>
                    <a:pt x="11530457" y="7931023"/>
                  </a:lnTo>
                  <a:cubicBezTo>
                    <a:pt x="11530457" y="8807069"/>
                    <a:pt x="10820273" y="9517253"/>
                    <a:pt x="9944227" y="9517253"/>
                  </a:cubicBezTo>
                  <a:lnTo>
                    <a:pt x="1586230" y="9517253"/>
                  </a:lnTo>
                  <a:cubicBezTo>
                    <a:pt x="710184" y="9517253"/>
                    <a:pt x="0" y="8807069"/>
                    <a:pt x="0" y="7931023"/>
                  </a:cubicBezTo>
                  <a:close/>
                </a:path>
              </a:pathLst>
            </a:custGeom>
            <a:solidFill>
              <a:srgbClr val="F0F1F5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173994" y="2313346"/>
            <a:ext cx="8144599" cy="685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Task 3ec01417 (search): solved in every 5-tool run, failed in every 50-tool run</a:t>
            </a:r>
          </a:p>
          <a:p>
            <a:pPr algn="l">
              <a:lnSpc>
                <a:spcPts val="2521"/>
              </a:lnSpc>
            </a:pP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Query: Can you extract the content from the URL https://www.wikipedia.org with basic depth and markdown format?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Gold: tavily-extract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Called: puppeteer_navigate  -&gt;  wrong tool cross domain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Gold at position 15 of 50</a:t>
            </a:r>
          </a:p>
          <a:p>
            <a:pPr algn="l">
              <a:lnSpc>
                <a:spcPts val="2521"/>
              </a:lnSpc>
            </a:pP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Picked tool: Navigate to a URL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Gold tool: A powerful web content extraction tool that retrieves and processes raw content from specified URLs, ideal for data coll...</a:t>
            </a:r>
          </a:p>
          <a:p>
            <a:pPr algn="l">
              <a:lnSpc>
                <a:spcPts val="2521"/>
              </a:lnSpc>
            </a:pP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B1B1F"/>
                </a:solidFill>
                <a:latin typeface="Calibri (MS)"/>
                <a:ea typeface="Calibri (MS)"/>
                <a:cs typeface="Calibri (MS)"/>
                <a:sym typeface="Calibri (MS)"/>
              </a:rPr>
              <a:t>Cause: (state after reading the trace)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DAHX4jcZPHQ</dc:identifier>
  <dcterms:modified xsi:type="dcterms:W3CDTF">2011-08-01T06:04:30Z</dcterms:modified>
  <cp:revision>1</cp:revision>
  <dc:title>MCP ToolBench</dc:title>
</cp:coreProperties>
</file>