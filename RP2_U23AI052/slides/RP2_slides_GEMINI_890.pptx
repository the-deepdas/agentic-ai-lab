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Tool selection %</c:v>
                </c:pt>
              </c:strCache>
            </c:strRef>
          </c:tx>
          <c:spPr>
            <a:solidFill>
              <a:srgbClr val="2E6FD8"/>
            </a:solidFill>
          </c:spPr>
          <c:cat>
            <c:strRef>
              <c:f>Sheet1!$A$2:$A$4</c:f>
              <c:strCache>
                <c:ptCount val="3"/>
                <c:pt idx="0">
                  <c:v>5 tools</c:v>
                </c:pt>
                <c:pt idx="1">
                  <c:v>20 tools</c:v>
                </c:pt>
                <c:pt idx="2">
                  <c:v>50 tools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26.6</c:v>
                </c:pt>
                <c:pt idx="1">
                  <c:v>26.8</c:v>
                </c:pt>
                <c:pt idx="2">
                  <c:v>26.8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AST (tool + parameters) %</c:v>
                </c:pt>
              </c:strCache>
            </c:strRef>
          </c:tx>
          <c:spPr>
            <a:solidFill>
              <a:srgbClr val="E07B1A"/>
            </a:solidFill>
          </c:spPr>
          <c:cat>
            <c:strRef>
              <c:f>Sheet1!$A$2:$A$4</c:f>
              <c:strCache>
                <c:ptCount val="3"/>
                <c:pt idx="0">
                  <c:v>5 tools</c:v>
                </c:pt>
                <c:pt idx="1">
                  <c:v>20 tools</c:v>
                </c:pt>
                <c:pt idx="2">
                  <c:v>50 tools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24.2</c:v>
                </c:pt>
                <c:pt idx="1">
                  <c:v>26.0</c:v>
                </c:pt>
                <c:pt idx="2">
                  <c:v>26.8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DDE3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Input tokens per task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Input tokens per task</c:v>
                </c:pt>
              </c:strCache>
            </c:strRef>
          </c:tx>
          <c:spPr>
            <a:solidFill>
              <a:srgbClr val="2E6FD8"/>
            </a:solidFill>
          </c:spPr>
          <c:cat>
            <c:strRef>
              <c:f>Sheet1!$A$2:$A$5</c:f>
              <c:strCache>
                <c:ptCount val="4"/>
                <c:pt idx="0">
                  <c:v>5 tools</c:v>
                </c:pt>
                <c:pt idx="1">
                  <c:v>20 tools</c:v>
                </c:pt>
                <c:pt idx="2">
                  <c:v>50 tools</c:v>
                </c:pt>
                <c:pt idx="3">
                  <c:v>5 tools, self-consistency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505</c:v>
                </c:pt>
                <c:pt idx="1">
                  <c:v>1228</c:v>
                </c:pt>
                <c:pt idx="2">
                  <c:v>2707</c:v>
                </c:pt>
                <c:pt idx="3">
                  <c:v>4039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Share of all attempts (%)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api error</c:v>
                </c:pt>
              </c:strCache>
            </c:strRef>
          </c:tx>
          <c:spPr>
            <a:solidFill>
              <a:srgbClr val="2E6FD8"/>
            </a:solidFill>
          </c:spPr>
          <c:cat>
            <c:strRef>
              <c:f>Sheet1!$A$2:$A$3</c:f>
              <c:strCache>
                <c:ptCount val="2"/>
                <c:pt idx="0">
                  <c:v>5 tools</c:v>
                </c:pt>
                <c:pt idx="1">
                  <c:v>50 tools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72.7</c:v>
                </c:pt>
                <c:pt idx="1">
                  <c:v>72.4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invalid tool name</c:v>
                </c:pt>
              </c:strCache>
            </c:strRef>
          </c:tx>
          <c:spPr>
            <a:solidFill>
              <a:srgbClr val="E07B1A"/>
            </a:solidFill>
          </c:spPr>
          <c:cat>
            <c:strRef>
              <c:f>Sheet1!$A$2:$A$3</c:f>
              <c:strCache>
                <c:ptCount val="2"/>
                <c:pt idx="0">
                  <c:v>5 tools</c:v>
                </c:pt>
                <c:pt idx="1">
                  <c:v>50 tools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</c:v>
                </c:pt>
                <c:pt idx="1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wrong tool same domain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Sheet1!$A$2:$A$3</c:f>
              <c:strCache>
                <c:ptCount val="2"/>
                <c:pt idx="0">
                  <c:v>5 tools</c:v>
                </c:pt>
                <c:pt idx="1">
                  <c:v>50 tools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</c:v>
                </c:pt>
                <c:pt idx="1">
                  <c:v>0.8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missing required param</c:v>
                </c:pt>
              </c:strCache>
            </c:strRef>
          </c:tx>
          <c:spPr>
            <a:solidFill>
              <a:srgbClr val="9B3FB5"/>
            </a:solidFill>
          </c:spPr>
          <c:cat>
            <c:strRef>
              <c:f>Sheet1!$A$2:$A$3</c:f>
              <c:strCache>
                <c:ptCount val="2"/>
                <c:pt idx="0">
                  <c:v>5 tools</c:v>
                </c:pt>
                <c:pt idx="1">
                  <c:v>50 tools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2.3</c:v>
                </c:pt>
                <c:pt idx="1">
                  <c:v>0.0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(0:00-0:30) Introduce the question: does a longer tool list make an LLM worse at choosing the right MCP tool, and what does it cost? Individual project, roll number U23AI052.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(0:30-1:30) Read the objective, then be upfront about the deviations. The public release has only single-step data for these three domains, so multi-step and AST DAG are dropped. The GPT-4o judge is replaced by a deterministic scorer that I checked against my own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(1:30-2:30) Nested design: the 5-tool context is a subset of the 20-tool one, which is a subset of the 50-tool one. Same prompt files, same model, same decoding. Three ablations isolate one factor each: position, length,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(2:30-3:30) Walk the pipeline left to right. Everything is mine except the benchmark's task data and labels. A failed API call becomes an api_error record and is never a crash; interrupted runs resume. unit tests including an oracle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(3:30-4:15) These are the rubric requirements. Each one maps to a file in the repository. Planned token cost is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(4:15-5:30) Read the three AST numbers, then the paired bootstrap interval for 5 to 50 tools. Say whether it is outside sampling noise. Then point to the tool-selection series: is the loss selection or argument filling?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(5:30-6:15) Tokens per task grow with the tool list; the question is whether accuracy bought with tokens could be had more cheaply. The self-consistency arm gives the 5-tool baseline about the same token budget as 50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(6:15-7:00) Position arm: is it where the right tool sits? Padding arm: is it context length rather than number of choices? Each row is a paired difference with a bootstrap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(7:00-7:45) Failure labels are exclusive and computed from the trace. Then read one failure from its trace: query, gold tool, the tool it picked, and the tool descriptions. State the cause in your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(7:45-8:00 then LIVE DEMO) Run: python scripts/demo.py --domain map   (or --task-index N). It prints the query, gold tool, then the same task at 5, 20 and 50 tools: tool called, pass/fail with failure label, tokens, latency. Traces are opened from results/demo/traces. If the API is slow, play the recorded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1F2A6B"/>
                </a:solidFill>
                <a:latin typeface="Calibri"/>
              </a:rPr>
              <a:t>Does a longer tool list hurt MCP tool selection?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1B1B1F"/>
                </a:solidFill>
                <a:latin typeface="Calibri"/>
              </a:rPr>
              <a:t>5 vs 20 vs 50 tools in context on a 200-task MCPToolBench++ subset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5F6373"/>
                </a:solidFill>
                <a:latin typeface="Calibri"/>
              </a:rPr>
              <a:t>AI465 Agentic AI  |  Research Project, Phase 2: implementation and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5F6373"/>
                </a:solidFill>
                <a:latin typeface="Calibri"/>
              </a:rPr>
              <a:t>U23AI052  |  Individual work  |  SVNIT Surat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Objective, and what changed from Phase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206240" cy="484632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Approved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84048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Effect of tool-count context (5 vs 20 vs 50 tools) on MCP tool-selection accuracy and failure composition, on a stratified 200-task MCPToolBench++ subset (search, map, finance).</a:t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Metrics: AST accuracy, tokens, calls and latency per task, plus a failure taxonomy.</a:t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Fills the paper's gaps: no cost, no variance, no failure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Declared deviations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D1 Single-step only.</a:t>
            </a:r>
            <a:r>
              <a:rPr sz="1600" b="0">
                <a:solidFill>
                  <a:srgbClr val="1B1B1F"/>
                </a:solidFill>
                <a:latin typeface="Calibri"/>
              </a:rPr>
              <a:t> Public data has no multi-step items for these domains, so no AST DAG.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D2 No Pass@K.</a:t>
            </a:r>
            <a:r>
              <a:rPr sz="1600" b="0">
                <a:solidFill>
                  <a:srgbClr val="1B1B1F"/>
                </a:solidFill>
                <a:latin typeface="Calibri"/>
              </a:rPr>
              <a:t> Needs live MCP servers and credentials.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D3 Deterministic scorer</a:t>
            </a:r>
            <a:r>
              <a:rPr sz="1600" b="0">
                <a:solidFill>
                  <a:srgbClr val="1B1B1F"/>
                </a:solidFill>
                <a:latin typeface="Calibri"/>
              </a:rPr>
              <a:t> instead of the GPT-4o judge; audited against my labels.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D4 Distractors</a:t>
            </a:r>
            <a:r>
              <a:rPr sz="1600" b="0">
                <a:solidFill>
                  <a:srgbClr val="1B1B1F"/>
                </a:solidFill>
                <a:latin typeface="Calibri"/>
              </a:rPr>
              <a:t> from an 87-tool pool; native lists are only 1, 5 or 32 tools.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D5 Matched budget</a:t>
            </a:r>
            <a:r>
              <a:rPr sz="1600" b="0">
                <a:solidFill>
                  <a:srgbClr val="1B1B1F"/>
                </a:solidFill>
                <a:latin typeface="Calibri"/>
              </a:rPr>
              <a:t> = identical prompts + 5-tool baseline with k=8 votes.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D6 Missing required parameter</a:t>
            </a:r>
            <a:r>
              <a:rPr sz="1600" b="0">
                <a:solidFill>
                  <a:srgbClr val="1B1B1F"/>
                </a:solidFill>
                <a:latin typeface="Calibri"/>
              </a:rPr>
              <a:t> counts as an error (stricter).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Design: the tool list is the only thing that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778240" cy="402336"/>
          </a:xfrm>
          <a:prstGeom prst="rect">
            <a:avLst/>
          </a:prstGeom>
          <a:solidFill>
            <a:srgbClr val="C9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3560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1B1F"/>
                </a:solidFill>
                <a:latin typeface="Calibri"/>
              </a:rPr>
              <a:t>50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92808"/>
            <a:ext cx="5669280" cy="402336"/>
          </a:xfrm>
          <a:prstGeom prst="rect">
            <a:avLst/>
          </a:prstGeom>
          <a:solidFill>
            <a:srgbClr val="8FA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5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1B1F"/>
                </a:solidFill>
                <a:latin typeface="Calibri"/>
              </a:rPr>
              <a:t>20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68296"/>
            <a:ext cx="2377440" cy="402336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5F6373"/>
                </a:solidFill>
                <a:latin typeface="Calibri"/>
              </a:rPr>
              <a:t>gold tool + up to 2 labelled similar tools are always present; distractors come from one seeded permutation per task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4747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48056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differs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Isolates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 / c20 / c50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5, 20, 50 tools in context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effect of tool count (the objective)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c50_goldfirst / goldlast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gold tool placed first or last at 50 tools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position of the right tool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c05_padded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 + neutral text to the 50-tool length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context length vs number of choices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c05_sc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tools, 8 samples, majority vote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matched token budget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Same system and user prompt files in every condition (a test asserts it). Every run: 200 tasks x 3 repetitions, temperature and seed pinned.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What I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Subset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200 tasks, 87-tool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Condition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nested tool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model adapters, retries, resume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prompt, tools, response,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Scorer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tool_ok, param_ok, 9 failure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Aggregate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mean±SD, bootstrap, figures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832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Own code:</a:t>
            </a:r>
            <a:r>
              <a:rPr sz="1700" b="0">
                <a:solidFill>
                  <a:srgbClr val="1B1B1F"/>
                </a:solidFill>
                <a:latin typeface="Calibri"/>
              </a:rPr>
              <a:t> runner, condition builder, scorer, statistics, report and slide generators, tests.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Borrowed:</a:t>
            </a:r>
            <a:r>
              <a:rPr sz="1700" b="0">
                <a:solidFill>
                  <a:srgbClr val="1B1B1F"/>
                </a:solidFill>
                <a:latin typeface="Calibri"/>
              </a:rPr>
              <a:t> the benchmark's task data and labels (commit 2bd35e5); its judge rules re-implemented, no code imported.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Robustness:</a:t>
            </a:r>
            <a:r>
              <a:rPr sz="1700" b="0">
                <a:solidFill>
                  <a:srgbClr val="1B1B1F"/>
                </a:solidFill>
                <a:latin typeface="Calibri"/>
              </a:rPr>
              <a:t> retries with backoff, rate limit, resume, jobs interleaved across conditions so model drift hits all of them.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Checked:</a:t>
            </a:r>
            <a:r>
              <a:rPr sz="1700" b="0">
                <a:solidFill>
                  <a:srgbClr val="1B1B1F"/>
                </a:solidFill>
                <a:latin typeface="Calibri"/>
              </a:rPr>
              <a:t> oracle test (200 gold labels score 100%), perturbation tests, 20-task audit against my own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Experimental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is met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Repetition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3 full passes per condition; mean ± SD over runs; paired bootstrap over tasks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Pinned configuration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configs/config.yaml, manifest.json per run: model string asked and returned, temperature, top-p, seed, dates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Prompts as artefacts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prompts/*.txt; conditions differ only in the tool list (padding arm adds neutral text)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tool and AST accuracy; model calls, input and output tokens, latency per task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Traces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every call: full prompt, tool list, raw response, usage, score, failure label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Judging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no LLM judge; deterministic scorer checked on 20 tasks against my labels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one command per table; README states runtime and token cost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Results: accuracy vs number of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7665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114800" cy="19202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8404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AST accuracy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24.2%  -&gt;  26.0%  -&gt;  26.8%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run-to-run SD nan / nan / nan 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611880"/>
            <a:ext cx="4114800" cy="19202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3703320"/>
            <a:ext cx="38404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5 to 50 tools, paired bootstrap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+2.4 pp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95% CI [-4.7, +10.2]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within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76072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F6373"/>
                </a:solidFill>
                <a:latin typeface="Calibri"/>
              </a:rPr>
              <a:t>Mean over 1 runs x 128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Results: what the extra tools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66928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55448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2296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AST %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Latency 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 / correct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5 tools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24.2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13.83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2115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20 tools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13.96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4757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50 tools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14.11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10143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5 tools, self-consistency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34.6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112.15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11838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420624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F6373"/>
                </a:solidFill>
                <a:latin typeface="Calibri"/>
              </a:rPr>
              <a:t>Calls per task: 1 in every condition except self-consistency (k votes).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Ablations: what explains the effect?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737360"/>
                <a:gridCol w="1280160"/>
                <a:gridCol w="2011680"/>
                <a:gridCol w="1097280"/>
              </a:tblGrid>
              <a:tr h="54863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Comparison (AST accuracy)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Diff (pp)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95% CI (pp)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Beyond noise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50 tools: gold first vs shuffled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+1.6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[-3.9, +7.1]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50 tools: gold last vs shuffled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+0.8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[-5.5, +7.1]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 padded to 50-tool length vs plain 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context length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+1.6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[-6.3, +9.4]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tools, 8 votes vs plain 5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+10.2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[+4.7, +16.5]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50 tools vs 5 tools with 8 votes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matched budget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-7.9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[-14.2, -1.6]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F6373"/>
                </a:solidFill>
                <a:latin typeface="Calibri"/>
              </a:rPr>
              <a:t>Differences are computed per task (mean over runs) and bootstrapped over the 200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Why it fails: taxonomy and a traced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1206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0" y="1463040"/>
            <a:ext cx="5760720" cy="475488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554480"/>
            <a:ext cx="548640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Task 27c74bb0 (search): solved in every 5-tool run, failed in every 50-tool run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Query: Can you extract content from the Careers section of the website www.company.com in text format?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Gold: tavily-crawl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Called: tavily-extract  -&gt;  wrong tool same domain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Gold at position 15 of 50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Picked tool: A powerful web content extraction tool that retrieves and processes raw content from specified URLs, ideal for data coll...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Gold tool: A powerful web crawler that initiates a structured web crawl starting from a specified base URL. The crawler expands fro...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Cause: (state after reading the trace)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Limitations, next steps, and the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One model, one temperature, single-step tasks.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Labels are the benchmark's; a valid alternative tool can be scored wrong.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Distractors are mostly cross-domain, so easier than a real marketplace.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Lenient parameter matching, as in the benchmark.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No Pass@K or live MCP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With four more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Several models and sizes.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Distractors chosen by similarity to the gold tool.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A retrieval baseline that shows only the top-k tools.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Multi-step chains built from labelled calls.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Live MCP servers for Pass@K.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754880"/>
            <a:ext cx="5394960" cy="13716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84632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Live demo</a:t>
            </a:r>
          </a:p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python scripts/demo.py --domain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