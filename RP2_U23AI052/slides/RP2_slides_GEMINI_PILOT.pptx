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Tool selection %</c:v>
                </c:pt>
              </c:strCache>
            </c:strRef>
          </c:tx>
          <c:spPr>
            <a:solidFill>
              <a:srgbClr val="2E6FD8"/>
            </a:solidFill>
          </c:spPr>
          <c:cat>
            <c:strRef>
              <c:f>Sheet1!$A$2:$A$4</c:f>
              <c:strCache>
                <c:ptCount val="3"/>
                <c:pt idx="0">
                  <c:v>5 tools</c:v>
                </c:pt>
                <c:pt idx="1">
                  <c:v>20 tools</c:v>
                </c:pt>
                <c:pt idx="2">
                  <c:v>50 tools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100.0</c:v>
                </c:pt>
                <c:pt idx="1">
                  <c:v>100.0</c:v>
                </c:pt>
                <c:pt idx="2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AST (tool + parameters) %</c:v>
                </c:pt>
              </c:strCache>
            </c:strRef>
          </c:tx>
          <c:spPr>
            <a:solidFill>
              <a:srgbClr val="E07B1A"/>
            </a:solidFill>
          </c:spPr>
          <c:cat>
            <c:strRef>
              <c:f>Sheet1!$A$2:$A$4</c:f>
              <c:strCache>
                <c:ptCount val="3"/>
                <c:pt idx="0">
                  <c:v>5 tools</c:v>
                </c:pt>
                <c:pt idx="1">
                  <c:v>20 tools</c:v>
                </c:pt>
                <c:pt idx="2">
                  <c:v>50 tools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100.0</c:v>
                </c:pt>
                <c:pt idx="1">
                  <c:v>100.0</c:v>
                </c:pt>
                <c:pt idx="2">
                  <c:v>0.0</c:v>
                </c:pt>
              </c:numCache>
            </c:numRef>
          </c:val>
        </c:ser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>
          <c:spPr>
            <a:ln>
              <a:solidFill>
                <a:srgbClr val="DDDDE3"/>
              </a:solidFill>
            </a:ln>
          </c:spPr>
        </c:majorGridlines>
        <c:numFmt formatCode="0&quot;%&quot;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200"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/>
              <a:t>Input tokens per task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Input tokens per task</c:v>
                </c:pt>
              </c:strCache>
            </c:strRef>
          </c:tx>
          <c:spPr>
            <a:solidFill>
              <a:srgbClr val="2E6FD8"/>
            </a:solidFill>
          </c:spPr>
          <c:cat>
            <c:strRef>
              <c:f>Sheet1!$A$2:$A$4</c:f>
              <c:strCache>
                <c:ptCount val="3"/>
                <c:pt idx="0">
                  <c:v>5 tools</c:v>
                </c:pt>
                <c:pt idx="1">
                  <c:v>20 tools</c:v>
                </c:pt>
                <c:pt idx="2">
                  <c:v>50 tools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1216</c:v>
                </c:pt>
                <c:pt idx="1">
                  <c:v>3344</c:v>
                </c:pt>
                <c:pt idx="2">
                  <c:v>9871</c:v>
                </c:pt>
              </c:numCache>
            </c:numRef>
          </c:val>
        </c:ser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DDDE3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200"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/>
              <a:t>Share of all attempts (%)</a:t>
            </a:r>
          </a:p>
        </c:rich>
      </c:tx>
      <c:layout/>
      <c:overlay val="0"/>
    </c:title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wrong tool same domain</c:v>
                </c:pt>
              </c:strCache>
            </c:strRef>
          </c:tx>
          <c:spPr>
            <a:solidFill>
              <a:srgbClr val="2E6FD8"/>
            </a:solidFill>
          </c:spPr>
          <c:cat>
            <c:strRef>
              <c:f>Sheet1!$A$2:$A$3</c:f>
              <c:strCache>
                <c:ptCount val="2"/>
                <c:pt idx="0">
                  <c:v>5 tools</c:v>
                </c:pt>
                <c:pt idx="1">
                  <c:v>50 tools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0.0</c:v>
                </c:pt>
                <c:pt idx="1">
                  <c:v>100.0</c:v>
                </c:pt>
              </c:numCache>
            </c:numRef>
          </c:val>
        </c:ser>
        <c:gapWidth val="7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DDDE3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200"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(0:00-0:30) Introduce the question: does a longer tool list make an LLM worse at choosing the right MCP tool, and what does it cost? Individual project, roll number U23AI052.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(0:30-1:30) Read the objective, then be upfront about the deviations. The public release has only single-step data for these three domains, so multi-step and AST DAG are dropped. The GPT-4o judge is replaced by a deterministic scorer that I checked against my own labels.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(1:30-2:30) Nested design: the 5-tool context is a subset of the 20-tool one, which is a subset of the 50-tool one. Same prompt files, same model, same decoding. Three ablations isolate one factor each: position, length, budget.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(2:30-3:30) Walk the pipeline left to right. Everything is mine except the benchmark's task data and labels. A failed API call becomes an api_error record and is never a crash; interrupted runs resume. unit tests including an oracle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(3:30-4:15) These are the rubric requirements. Each one maps to a file in the repository. Planned token cost is in the README.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(4:15-5:30) Read the three AST numbers, then the paired bootstrap interval for 5 to 50 tools. Say whether it is outside sampling noise. Then point to the tool-selection series: is the loss selection or argument filling?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(5:30-6:15) Tokens per task grow with the tool list; the question is whether accuracy bought with tokens could be had more cheaply. The self-consistency arm gives the 5-tool baseline about the same token budget as 50 tools.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(6:15-7:00) Position arm: is it where the right tool sits? Padding arm: is it context length rather than number of choices? Each row is a paired difference with a bootstrap interval.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(7:00-7:45) Failure labels are exclusive and computed from the trace. Then read one failure from its trace: query, gold tool, the tool it picked, and the tool descriptions. State the cause in your own words.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(7:45-8:00 then LIVE DEMO) Run: python scripts/demo.py --domain map   (or --task-index N). It prints the query, gold tool, then the same task at 5, 20 and 50 tools: tool called, pass/fail with failure label, tokens, latency. Traces are opened from results/demo/traces. If the API is slow, play the recorded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chart" Target="../charts/char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 i="0">
                <a:solidFill>
                  <a:srgbClr val="1F2A6B"/>
                </a:solidFill>
                <a:latin typeface="Calibri"/>
              </a:rPr>
              <a:t/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280160" cy="54864"/>
          </a:xfrm>
          <a:prstGeom prst="rect">
            <a:avLst/>
          </a:prstGeom>
          <a:solidFill>
            <a:srgbClr val="1F2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5F6373"/>
                </a:solidFill>
                <a:latin typeface="Calibri"/>
              </a:rPr>
              <a:t>AI465 Agentic AI  |  RP2  |  U23AI052  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69848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4400" b="1" i="0">
                <a:solidFill>
                  <a:srgbClr val="1F2A6B"/>
                </a:solidFill>
                <a:latin typeface="Calibri"/>
              </a:rPr>
              <a:t>Does a longer tool list hurt MCP tool selection?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83280"/>
            <a:ext cx="1069848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400" b="0" i="0">
                <a:solidFill>
                  <a:srgbClr val="1B1B1F"/>
                </a:solidFill>
                <a:latin typeface="Calibri"/>
              </a:rPr>
              <a:t>5 vs 20 vs 50 tools in context on a 200-task MCPToolBench++ subset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06240"/>
            <a:ext cx="106984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0" i="0">
                <a:solidFill>
                  <a:srgbClr val="5F6373"/>
                </a:solidFill>
                <a:latin typeface="Calibri"/>
              </a:rPr>
              <a:t>AI465 Agentic AI  |  Research Project, Phase 2: implementation and evaluation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663440"/>
            <a:ext cx="106984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0" i="0">
                <a:solidFill>
                  <a:srgbClr val="5F6373"/>
                </a:solidFill>
                <a:latin typeface="Calibri"/>
              </a:rPr>
              <a:t>U23AI052  |  Individual work  |  SVNIT Surat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 i="0">
                <a:solidFill>
                  <a:srgbClr val="1F2A6B"/>
                </a:solidFill>
                <a:latin typeface="Calibri"/>
              </a:rPr>
              <a:t>Objective, and what changed from Phase 1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280160" cy="54864"/>
          </a:xfrm>
          <a:prstGeom prst="rect">
            <a:avLst/>
          </a:prstGeom>
          <a:solidFill>
            <a:srgbClr val="1F2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5F6373"/>
                </a:solidFill>
                <a:latin typeface="Calibri"/>
              </a:rPr>
              <a:t>AI465 Agentic AI  |  RP2  |  U23AI052  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4206240" cy="4846320"/>
          </a:xfrm>
          <a:prstGeom prst="roundRect">
            <a:avLst/>
          </a:prstGeom>
          <a:solidFill>
            <a:srgbClr val="F0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38404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000" b="1" i="0">
                <a:solidFill>
                  <a:srgbClr val="1F2A6B"/>
                </a:solidFill>
                <a:latin typeface="Calibri"/>
              </a:rPr>
              <a:t>Approved objective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3840480" cy="4023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0" i="0">
                <a:solidFill>
                  <a:srgbClr val="1B1B1F"/>
                </a:solidFill>
                <a:latin typeface="Calibri"/>
              </a:rPr>
              <a:t>Effect of tool-count context (5 vs 20 vs 50 tools) on MCP tool-selection accuracy and failure composition, on a stratified 200-task MCPToolBench++ subset (search, map, finance).</a:t>
            </a:r>
          </a:p>
          <a:p>
            <a:pPr algn="l"/>
            <a:r>
              <a:rPr sz="1600" b="0" i="0">
                <a:solidFill>
                  <a:srgbClr val="1B1B1F"/>
                </a:solidFill>
                <a:latin typeface="Calibri"/>
              </a:rPr>
              <a:t/>
            </a:r>
          </a:p>
          <a:p>
            <a:pPr algn="l"/>
            <a:r>
              <a:rPr sz="1600" b="0" i="0">
                <a:solidFill>
                  <a:srgbClr val="1B1B1F"/>
                </a:solidFill>
                <a:latin typeface="Calibri"/>
              </a:rPr>
              <a:t>Metrics: AST accuracy, tokens, calls and latency per task, plus a failure taxonomy.</a:t>
            </a:r>
          </a:p>
          <a:p>
            <a:pPr algn="l"/>
            <a:r>
              <a:rPr sz="1600" b="0" i="0">
                <a:solidFill>
                  <a:srgbClr val="1B1B1F"/>
                </a:solidFill>
                <a:latin typeface="Calibri"/>
              </a:rPr>
              <a:t/>
            </a:r>
          </a:p>
          <a:p>
            <a:pPr algn="l"/>
            <a:r>
              <a:rPr sz="1600" b="0" i="0">
                <a:solidFill>
                  <a:srgbClr val="1B1B1F"/>
                </a:solidFill>
                <a:latin typeface="Calibri"/>
              </a:rPr>
              <a:t>Fills the paper's gaps: no cost, no variance, no failure analysis.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371600"/>
            <a:ext cx="65836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000" b="1" i="0">
                <a:solidFill>
                  <a:srgbClr val="1F2A6B"/>
                </a:solidFill>
                <a:latin typeface="Calibri"/>
              </a:rPr>
              <a:t>Declared deviations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1920240"/>
            <a:ext cx="66751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1B1B1F"/>
                </a:solidFill>
                <a:latin typeface="Calibri"/>
              </a:rPr>
              <a:t>•  D1 Single-step only.</a:t>
            </a:r>
            <a:r>
              <a:rPr sz="1600" b="0">
                <a:solidFill>
                  <a:srgbClr val="1B1B1F"/>
                </a:solidFill>
                <a:latin typeface="Calibri"/>
              </a:rPr>
              <a:t> Public data has no multi-step items for these domains, so no AST DAG.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1B1B1F"/>
                </a:solidFill>
                <a:latin typeface="Calibri"/>
              </a:rPr>
              <a:t>•  D2 No Pass@K.</a:t>
            </a:r>
            <a:r>
              <a:rPr sz="1600" b="0">
                <a:solidFill>
                  <a:srgbClr val="1B1B1F"/>
                </a:solidFill>
                <a:latin typeface="Calibri"/>
              </a:rPr>
              <a:t> Needs live MCP servers and credentials.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1B1B1F"/>
                </a:solidFill>
                <a:latin typeface="Calibri"/>
              </a:rPr>
              <a:t>•  D3 Deterministic scorer</a:t>
            </a:r>
            <a:r>
              <a:rPr sz="1600" b="0">
                <a:solidFill>
                  <a:srgbClr val="1B1B1F"/>
                </a:solidFill>
                <a:latin typeface="Calibri"/>
              </a:rPr>
              <a:t> instead of the GPT-4o judge; audited against my labels.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1B1B1F"/>
                </a:solidFill>
                <a:latin typeface="Calibri"/>
              </a:rPr>
              <a:t>•  D4 Distractors</a:t>
            </a:r>
            <a:r>
              <a:rPr sz="1600" b="0">
                <a:solidFill>
                  <a:srgbClr val="1B1B1F"/>
                </a:solidFill>
                <a:latin typeface="Calibri"/>
              </a:rPr>
              <a:t> from an 87-tool pool; native lists are only 1, 5 or 32 tools.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1B1B1F"/>
                </a:solidFill>
                <a:latin typeface="Calibri"/>
              </a:rPr>
              <a:t>•  D5 Matched budget</a:t>
            </a:r>
            <a:r>
              <a:rPr sz="1600" b="0">
                <a:solidFill>
                  <a:srgbClr val="1B1B1F"/>
                </a:solidFill>
                <a:latin typeface="Calibri"/>
              </a:rPr>
              <a:t> = identical prompts + 5-tool baseline with k=8 votes.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1B1B1F"/>
                </a:solidFill>
                <a:latin typeface="Calibri"/>
              </a:rPr>
              <a:t>•  D6 Missing required parameter</a:t>
            </a:r>
            <a:r>
              <a:rPr sz="1600" b="0">
                <a:solidFill>
                  <a:srgbClr val="1B1B1F"/>
                </a:solidFill>
                <a:latin typeface="Calibri"/>
              </a:rPr>
              <a:t> counts as an error (stricter).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 i="0">
                <a:solidFill>
                  <a:srgbClr val="1F2A6B"/>
                </a:solidFill>
                <a:latin typeface="Calibri"/>
              </a:rPr>
              <a:t>Design: the tool list is the only thing that changes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280160" cy="54864"/>
          </a:xfrm>
          <a:prstGeom prst="rect">
            <a:avLst/>
          </a:prstGeom>
          <a:solidFill>
            <a:srgbClr val="1F2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5F6373"/>
                </a:solidFill>
                <a:latin typeface="Calibri"/>
              </a:rPr>
              <a:t>AI465 Agentic AI  |  RP2  |  U23AI052   3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8778240" cy="402336"/>
          </a:xfrm>
          <a:prstGeom prst="rect">
            <a:avLst/>
          </a:prstGeom>
          <a:solidFill>
            <a:srgbClr val="C9D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35608"/>
            <a:ext cx="20116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1" i="0">
                <a:solidFill>
                  <a:srgbClr val="1B1B1F"/>
                </a:solidFill>
                <a:latin typeface="Calibri"/>
              </a:rPr>
              <a:t>50 tools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92808"/>
            <a:ext cx="5669280" cy="402336"/>
          </a:xfrm>
          <a:prstGeom prst="rect">
            <a:avLst/>
          </a:prstGeom>
          <a:solidFill>
            <a:srgbClr val="8FA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11095"/>
            <a:ext cx="20116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1" i="0">
                <a:solidFill>
                  <a:srgbClr val="1B1B1F"/>
                </a:solidFill>
                <a:latin typeface="Calibri"/>
              </a:rPr>
              <a:t>20 tools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368296"/>
            <a:ext cx="2377440" cy="402336"/>
          </a:xfrm>
          <a:prstGeom prst="rect">
            <a:avLst/>
          </a:prstGeom>
          <a:solidFill>
            <a:srgbClr val="2E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386584"/>
            <a:ext cx="20116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5 tools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880360"/>
            <a:ext cx="10881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 i="1">
                <a:solidFill>
                  <a:srgbClr val="5F6373"/>
                </a:solidFill>
                <a:latin typeface="Calibri"/>
              </a:rPr>
              <a:t>gold tool + up to 2 labelled similar tools are always present; distractors come from one seeded permutation per task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40080" y="3474720"/>
          <a:ext cx="108813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480560"/>
                <a:gridCol w="3657600"/>
              </a:tblGrid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Condition</a:t>
                      </a:r>
                    </a:p>
                  </a:txBody>
                  <a:tcPr marL="54864" marR="54864" marT="18288" marB="18288">
                    <a:solidFill>
                      <a:srgbClr val="1F2A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What differs</a:t>
                      </a:r>
                    </a:p>
                  </a:txBody>
                  <a:tcPr marL="54864" marR="54864" marT="18288" marB="18288">
                    <a:solidFill>
                      <a:srgbClr val="1F2A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Isolates</a:t>
                      </a:r>
                    </a:p>
                  </a:txBody>
                  <a:tcPr marL="54864" marR="54864" marT="18288" marB="18288">
                    <a:solidFill>
                      <a:srgbClr val="1F2A6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B1F"/>
                          </a:solidFill>
                          <a:latin typeface="Calibri"/>
                        </a:rPr>
                        <a:t>c05 / c20 / c50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B1F"/>
                          </a:solidFill>
                          <a:latin typeface="Calibri"/>
                        </a:rPr>
                        <a:t>5, 20, 50 tools in context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B1F"/>
                          </a:solidFill>
                          <a:latin typeface="Calibri"/>
                        </a:rPr>
                        <a:t>effect of tool count (the objective)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B1F"/>
                          </a:solidFill>
                          <a:latin typeface="Calibri"/>
                        </a:rPr>
                        <a:t>c50_goldfirst / goldlast</a:t>
                      </a:r>
                    </a:p>
                  </a:txBody>
                  <a:tcPr marL="54864" marR="54864" marT="18288" marB="18288">
                    <a:solidFill>
                      <a:srgbClr val="F0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B1F"/>
                          </a:solidFill>
                          <a:latin typeface="Calibri"/>
                        </a:rPr>
                        <a:t>gold tool placed first or last at 50 tools</a:t>
                      </a:r>
                    </a:p>
                  </a:txBody>
                  <a:tcPr marL="54864" marR="54864" marT="18288" marB="18288">
                    <a:solidFill>
                      <a:srgbClr val="F0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B1F"/>
                          </a:solidFill>
                          <a:latin typeface="Calibri"/>
                        </a:rPr>
                        <a:t>position of the right tool</a:t>
                      </a:r>
                    </a:p>
                  </a:txBody>
                  <a:tcPr marL="54864" marR="54864" marT="18288" marB="18288">
                    <a:solidFill>
                      <a:srgbClr val="F0F1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B1F"/>
                          </a:solidFill>
                          <a:latin typeface="Calibri"/>
                        </a:rPr>
                        <a:t>c05_padded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B1F"/>
                          </a:solidFill>
                          <a:latin typeface="Calibri"/>
                        </a:rPr>
                        <a:t>5 tools + neutral text to the 50-tool length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B1F"/>
                          </a:solidFill>
                          <a:latin typeface="Calibri"/>
                        </a:rPr>
                        <a:t>context length vs number of choices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B1F"/>
                          </a:solidFill>
                          <a:latin typeface="Calibri"/>
                        </a:rPr>
                        <a:t>c05_sc</a:t>
                      </a:r>
                    </a:p>
                  </a:txBody>
                  <a:tcPr marL="54864" marR="54864" marT="18288" marB="18288">
                    <a:solidFill>
                      <a:srgbClr val="F0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B1F"/>
                          </a:solidFill>
                          <a:latin typeface="Calibri"/>
                        </a:rPr>
                        <a:t>5 tools, 8 samples, majority vote</a:t>
                      </a:r>
                    </a:p>
                  </a:txBody>
                  <a:tcPr marL="54864" marR="54864" marT="18288" marB="18288">
                    <a:solidFill>
                      <a:srgbClr val="F0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B1F"/>
                          </a:solidFill>
                          <a:latin typeface="Calibri"/>
                        </a:rPr>
                        <a:t>matched token budget</a:t>
                      </a:r>
                    </a:p>
                  </a:txBody>
                  <a:tcPr marL="54864" marR="54864" marT="18288" marB="18288">
                    <a:solidFill>
                      <a:srgbClr val="F0F1F5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40080" y="5852160"/>
            <a:ext cx="1088136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1B1B1F"/>
                </a:solidFill>
                <a:latin typeface="Calibri"/>
              </a:rPr>
              <a:t>Same system and user prompt files in every condition (a test asserts it). Every run: 200 tasks x 3 repetitions, temperature and seed pinned.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 i="0">
                <a:solidFill>
                  <a:srgbClr val="1F2A6B"/>
                </a:solidFill>
                <a:latin typeface="Calibri"/>
              </a:rPr>
              <a:t>What I built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280160" cy="54864"/>
          </a:xfrm>
          <a:prstGeom prst="rect">
            <a:avLst/>
          </a:prstGeom>
          <a:solidFill>
            <a:srgbClr val="1F2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5F6373"/>
                </a:solidFill>
                <a:latin typeface="Calibri"/>
              </a:rPr>
              <a:t>AI465 Agentic AI  |  RP2  |  U23AI052  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1691640" cy="1463040"/>
          </a:xfrm>
          <a:prstGeom prst="roundRect">
            <a:avLst/>
          </a:prstGeom>
          <a:solidFill>
            <a:srgbClr val="F0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45920"/>
            <a:ext cx="16002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500" b="1" i="0">
                <a:solidFill>
                  <a:srgbClr val="1F2A6B"/>
                </a:solidFill>
                <a:latin typeface="Calibri"/>
              </a:rPr>
              <a:t>Subset builder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103120"/>
            <a:ext cx="16002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200" b="0" i="0">
                <a:solidFill>
                  <a:srgbClr val="1B1B1F"/>
                </a:solidFill>
                <a:latin typeface="Calibri"/>
              </a:rPr>
              <a:t>200 tasks, 87-tool pool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21992" y="2011680"/>
            <a:ext cx="2743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200" b="1" i="0">
                <a:solidFill>
                  <a:srgbClr val="1F2A6B"/>
                </a:solidFill>
                <a:latin typeface="Calibr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68880" y="1554480"/>
            <a:ext cx="1691640" cy="1463040"/>
          </a:xfrm>
          <a:prstGeom prst="roundRect">
            <a:avLst/>
          </a:prstGeom>
          <a:solidFill>
            <a:srgbClr val="F0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14600" y="1645920"/>
            <a:ext cx="16002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500" b="1" i="0">
                <a:solidFill>
                  <a:srgbClr val="1F2A6B"/>
                </a:solidFill>
                <a:latin typeface="Calibri"/>
              </a:rPr>
              <a:t>Condition builder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2103120"/>
            <a:ext cx="16002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200" b="0" i="0">
                <a:solidFill>
                  <a:srgbClr val="1B1B1F"/>
                </a:solidFill>
                <a:latin typeface="Calibri"/>
              </a:rPr>
              <a:t>nested tool lists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42232" y="2011680"/>
            <a:ext cx="2743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200" b="1" i="0">
                <a:solidFill>
                  <a:srgbClr val="1F2A6B"/>
                </a:solidFill>
                <a:latin typeface="Calibr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554480"/>
            <a:ext cx="1691640" cy="1463040"/>
          </a:xfrm>
          <a:prstGeom prst="roundRect">
            <a:avLst/>
          </a:prstGeom>
          <a:solidFill>
            <a:srgbClr val="F0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1645920"/>
            <a:ext cx="16002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500" b="1" i="0">
                <a:solidFill>
                  <a:srgbClr val="1F2A6B"/>
                </a:solidFill>
                <a:latin typeface="Calibri"/>
              </a:rPr>
              <a:t>Runner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103120"/>
            <a:ext cx="16002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200" b="0" i="0">
                <a:solidFill>
                  <a:srgbClr val="1B1B1F"/>
                </a:solidFill>
                <a:latin typeface="Calibri"/>
              </a:rPr>
              <a:t>model adapters, retries, resume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62472" y="2011680"/>
            <a:ext cx="2743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200" b="1" i="0">
                <a:solidFill>
                  <a:srgbClr val="1F2A6B"/>
                </a:solidFill>
                <a:latin typeface="Calibr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1554480"/>
            <a:ext cx="1691640" cy="1463040"/>
          </a:xfrm>
          <a:prstGeom prst="roundRect">
            <a:avLst/>
          </a:prstGeom>
          <a:solidFill>
            <a:srgbClr val="F0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1645920"/>
            <a:ext cx="16002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500" b="1" i="0">
                <a:solidFill>
                  <a:srgbClr val="1F2A6B"/>
                </a:solidFill>
                <a:latin typeface="Calibri"/>
              </a:rPr>
              <a:t>Traces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103120"/>
            <a:ext cx="16002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200" b="0" i="0">
                <a:solidFill>
                  <a:srgbClr val="1B1B1F"/>
                </a:solidFill>
                <a:latin typeface="Calibri"/>
              </a:rPr>
              <a:t>prompt, tools, response, usage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82712" y="2011680"/>
            <a:ext cx="2743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200" b="1" i="0">
                <a:solidFill>
                  <a:srgbClr val="1F2A6B"/>
                </a:solidFill>
                <a:latin typeface="Calibri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1554480"/>
            <a:ext cx="1691640" cy="1463040"/>
          </a:xfrm>
          <a:prstGeom prst="roundRect">
            <a:avLst/>
          </a:prstGeom>
          <a:solidFill>
            <a:srgbClr val="F0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5320" y="1645920"/>
            <a:ext cx="16002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500" b="1" i="0">
                <a:solidFill>
                  <a:srgbClr val="1F2A6B"/>
                </a:solidFill>
                <a:latin typeface="Calibri"/>
              </a:rPr>
              <a:t>Scorer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2103120"/>
            <a:ext cx="16002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200" b="0" i="0">
                <a:solidFill>
                  <a:srgbClr val="1B1B1F"/>
                </a:solidFill>
                <a:latin typeface="Calibri"/>
              </a:rPr>
              <a:t>tool_ok, param_ok, 9 failure labels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02952" y="2011680"/>
            <a:ext cx="2743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200" b="1" i="0">
                <a:solidFill>
                  <a:srgbClr val="1F2A6B"/>
                </a:solidFill>
                <a:latin typeface="Calibri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149840" y="1554480"/>
            <a:ext cx="1691640" cy="1463040"/>
          </a:xfrm>
          <a:prstGeom prst="roundRect">
            <a:avLst/>
          </a:prstGeom>
          <a:solidFill>
            <a:srgbClr val="F0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195560" y="1645920"/>
            <a:ext cx="16002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500" b="1" i="0">
                <a:solidFill>
                  <a:srgbClr val="1F2A6B"/>
                </a:solidFill>
                <a:latin typeface="Calibri"/>
              </a:rPr>
              <a:t>Aggregate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95560" y="2103120"/>
            <a:ext cx="16002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200" b="0" i="0">
                <a:solidFill>
                  <a:srgbClr val="1B1B1F"/>
                </a:solidFill>
                <a:latin typeface="Calibri"/>
              </a:rPr>
              <a:t>mean±SD, bootstrap, figures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3383280"/>
            <a:ext cx="10972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1B1B1F"/>
                </a:solidFill>
                <a:latin typeface="Calibri"/>
              </a:rPr>
              <a:t>•  Own code:</a:t>
            </a:r>
            <a:r>
              <a:rPr sz="1700" b="0">
                <a:solidFill>
                  <a:srgbClr val="1B1B1F"/>
                </a:solidFill>
                <a:latin typeface="Calibri"/>
              </a:rPr>
              <a:t> runner, condition builder, scorer, statistics, report and slide generators, tests.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B1B1F"/>
                </a:solidFill>
                <a:latin typeface="Calibri"/>
              </a:rPr>
              <a:t>•  Borrowed:</a:t>
            </a:r>
            <a:r>
              <a:rPr sz="1700" b="0">
                <a:solidFill>
                  <a:srgbClr val="1B1B1F"/>
                </a:solidFill>
                <a:latin typeface="Calibri"/>
              </a:rPr>
              <a:t> the benchmark's task data and labels (commit 2bd35e5); its judge rules re-implemented, no code imported.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B1B1F"/>
                </a:solidFill>
                <a:latin typeface="Calibri"/>
              </a:rPr>
              <a:t>•  Robustness:</a:t>
            </a:r>
            <a:r>
              <a:rPr sz="1700" b="0">
                <a:solidFill>
                  <a:srgbClr val="1B1B1F"/>
                </a:solidFill>
                <a:latin typeface="Calibri"/>
              </a:rPr>
              <a:t> retries with backoff, rate limit, resume, jobs interleaved across conditions so model drift hits all of them.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B1B1F"/>
                </a:solidFill>
                <a:latin typeface="Calibri"/>
              </a:rPr>
              <a:t>•  Checked:</a:t>
            </a:r>
            <a:r>
              <a:rPr sz="1700" b="0">
                <a:solidFill>
                  <a:srgbClr val="1B1B1F"/>
                </a:solidFill>
                <a:latin typeface="Calibri"/>
              </a:rPr>
              <a:t> oracle test (200 gold labels score 100%), perturbation tests, 20-task audit against my own labels.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 i="0">
                <a:solidFill>
                  <a:srgbClr val="1F2A6B"/>
                </a:solidFill>
                <a:latin typeface="Calibri"/>
              </a:rPr>
              <a:t>Experimental protocol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280160" cy="54864"/>
          </a:xfrm>
          <a:prstGeom prst="rect">
            <a:avLst/>
          </a:prstGeom>
          <a:solidFill>
            <a:srgbClr val="1F2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5F6373"/>
                </a:solidFill>
                <a:latin typeface="Calibri"/>
              </a:rPr>
              <a:t>AI465 Agentic AI  |  RP2  |  U23AI052   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463040"/>
          <a:ext cx="1088136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8138160"/>
              </a:tblGrid>
              <a:tr h="54864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Requirement</a:t>
                      </a:r>
                    </a:p>
                  </a:txBody>
                  <a:tcPr marL="54864" marR="54864" marT="18288" marB="18288">
                    <a:solidFill>
                      <a:srgbClr val="1F2A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How it is met</a:t>
                      </a:r>
                    </a:p>
                  </a:txBody>
                  <a:tcPr marL="54864" marR="54864" marT="18288" marB="18288">
                    <a:solidFill>
                      <a:srgbClr val="1F2A6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B1F"/>
                          </a:solidFill>
                          <a:latin typeface="Calibri"/>
                        </a:rPr>
                        <a:t>Repetition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B1F"/>
                          </a:solidFill>
                          <a:latin typeface="Calibri"/>
                        </a:rPr>
                        <a:t>3 full passes per condition; mean ± SD over runs; paired bootstrap over tasks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B1F"/>
                          </a:solidFill>
                          <a:latin typeface="Calibri"/>
                        </a:rPr>
                        <a:t>Pinned configuration</a:t>
                      </a:r>
                    </a:p>
                  </a:txBody>
                  <a:tcPr marL="54864" marR="54864" marT="18288" marB="18288">
                    <a:solidFill>
                      <a:srgbClr val="F0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B1F"/>
                          </a:solidFill>
                          <a:latin typeface="Calibri"/>
                        </a:rPr>
                        <a:t>configs/config.yaml, manifest.json per run: model string asked and returned, temperature, top-p, seed, dates</a:t>
                      </a:r>
                    </a:p>
                  </a:txBody>
                  <a:tcPr marL="54864" marR="54864" marT="18288" marB="18288">
                    <a:solidFill>
                      <a:srgbClr val="F0F1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B1F"/>
                          </a:solidFill>
                          <a:latin typeface="Calibri"/>
                        </a:rPr>
                        <a:t>Prompts as artefacts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B1F"/>
                          </a:solidFill>
                          <a:latin typeface="Calibri"/>
                        </a:rPr>
                        <a:t>prompts/*.txt; conditions differ only in the tool list (padding arm adds neutral text)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B1F"/>
                          </a:solidFill>
                          <a:latin typeface="Calibri"/>
                        </a:rPr>
                        <a:t>Metrics</a:t>
                      </a:r>
                    </a:p>
                  </a:txBody>
                  <a:tcPr marL="54864" marR="54864" marT="18288" marB="18288">
                    <a:solidFill>
                      <a:srgbClr val="F0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B1F"/>
                          </a:solidFill>
                          <a:latin typeface="Calibri"/>
                        </a:rPr>
                        <a:t>tool and AST accuracy; model calls, input and output tokens, latency per task</a:t>
                      </a:r>
                    </a:p>
                  </a:txBody>
                  <a:tcPr marL="54864" marR="54864" marT="18288" marB="18288">
                    <a:solidFill>
                      <a:srgbClr val="F0F1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B1F"/>
                          </a:solidFill>
                          <a:latin typeface="Calibri"/>
                        </a:rPr>
                        <a:t>Traces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B1F"/>
                          </a:solidFill>
                          <a:latin typeface="Calibri"/>
                        </a:rPr>
                        <a:t>every call: full prompt, tool list, raw response, usage, score, failure label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B1F"/>
                          </a:solidFill>
                          <a:latin typeface="Calibri"/>
                        </a:rPr>
                        <a:t>Judging</a:t>
                      </a:r>
                    </a:p>
                  </a:txBody>
                  <a:tcPr marL="54864" marR="54864" marT="18288" marB="18288">
                    <a:solidFill>
                      <a:srgbClr val="F0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B1F"/>
                          </a:solidFill>
                          <a:latin typeface="Calibri"/>
                        </a:rPr>
                        <a:t>no LLM judge; deterministic scorer checked on 20 tasks against my labels</a:t>
                      </a:r>
                    </a:p>
                  </a:txBody>
                  <a:tcPr marL="54864" marR="54864" marT="18288" marB="18288">
                    <a:solidFill>
                      <a:srgbClr val="F0F1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B1F"/>
                          </a:solidFill>
                          <a:latin typeface="Calibri"/>
                        </a:rPr>
                        <a:t>Reproducibility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B1F"/>
                          </a:solidFill>
                          <a:latin typeface="Calibri"/>
                        </a:rPr>
                        <a:t>one command per table; README states runtime and token cost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 i="0">
                <a:solidFill>
                  <a:srgbClr val="1F2A6B"/>
                </a:solidFill>
                <a:latin typeface="Calibri"/>
              </a:rPr>
              <a:t>Results: accuracy vs number of tools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280160" cy="54864"/>
          </a:xfrm>
          <a:prstGeom prst="rect">
            <a:avLst/>
          </a:prstGeom>
          <a:solidFill>
            <a:srgbClr val="1F2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5F6373"/>
                </a:solidFill>
                <a:latin typeface="Calibri"/>
              </a:rPr>
              <a:t>AI465 Agentic AI  |  RP2  |  U23AI052   6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371600"/>
          <a:ext cx="6766560" cy="48463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589520" y="1463040"/>
            <a:ext cx="4114800" cy="1920240"/>
          </a:xfrm>
          <a:prstGeom prst="roundRect">
            <a:avLst/>
          </a:prstGeom>
          <a:solidFill>
            <a:srgbClr val="F0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26679" y="1554480"/>
            <a:ext cx="3840480" cy="1737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0" i="0">
                <a:solidFill>
                  <a:srgbClr val="1B1B1F"/>
                </a:solidFill>
                <a:latin typeface="Calibri"/>
              </a:rPr>
              <a:t>AST accuracy</a:t>
            </a:r>
          </a:p>
          <a:p>
            <a:pPr algn="l"/>
            <a:r>
              <a:rPr sz="1800" b="0" i="0">
                <a:solidFill>
                  <a:srgbClr val="1B1B1F"/>
                </a:solidFill>
                <a:latin typeface="Calibri"/>
              </a:rPr>
              <a:t>100.0%  -&gt;  100.0%  -&gt;  0.0%</a:t>
            </a:r>
          </a:p>
          <a:p>
            <a:pPr algn="l"/>
            <a:r>
              <a:rPr sz="1800" b="0" i="0">
                <a:solidFill>
                  <a:srgbClr val="1B1B1F"/>
                </a:solidFill>
                <a:latin typeface="Calibri"/>
              </a:rPr>
              <a:t>run-to-run SD nan / nan / nan pp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3611880"/>
            <a:ext cx="4114800" cy="1920240"/>
          </a:xfrm>
          <a:prstGeom prst="roundRect">
            <a:avLst/>
          </a:prstGeom>
          <a:solidFill>
            <a:srgbClr val="F0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26679" y="3703320"/>
            <a:ext cx="3840480" cy="1737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0" i="0">
                <a:solidFill>
                  <a:srgbClr val="1B1B1F"/>
                </a:solidFill>
                <a:latin typeface="Calibri"/>
              </a:rPr>
              <a:t>5 to 50 tools, paired bootstrap</a:t>
            </a:r>
          </a:p>
          <a:p>
            <a:pPr algn="l"/>
            <a:r>
              <a:rPr sz="1800" b="0" i="0">
                <a:solidFill>
                  <a:srgbClr val="1B1B1F"/>
                </a:solidFill>
                <a:latin typeface="Calibri"/>
              </a:rPr>
              <a:t>-100.0 pp</a:t>
            </a:r>
          </a:p>
          <a:p>
            <a:pPr algn="l"/>
            <a:r>
              <a:rPr sz="1800" b="0" i="0">
                <a:solidFill>
                  <a:srgbClr val="1B1B1F"/>
                </a:solidFill>
                <a:latin typeface="Calibri"/>
              </a:rPr>
              <a:t>95% CI [-100.0, -100.0]</a:t>
            </a:r>
          </a:p>
          <a:p>
            <a:pPr algn="l"/>
            <a:r>
              <a:rPr sz="1800" b="0" i="0">
                <a:solidFill>
                  <a:srgbClr val="1B1B1F"/>
                </a:solidFill>
                <a:latin typeface="Calibri"/>
              </a:rPr>
              <a:t>outside noise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5760720"/>
            <a:ext cx="41148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5F6373"/>
                </a:solidFill>
                <a:latin typeface="Calibri"/>
              </a:rPr>
              <a:t>Mean over 1 runs x 1 tasks.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 i="0">
                <a:solidFill>
                  <a:srgbClr val="1F2A6B"/>
                </a:solidFill>
                <a:latin typeface="Calibri"/>
              </a:rPr>
              <a:t>Results: what the extra tools cost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280160" cy="54864"/>
          </a:xfrm>
          <a:prstGeom prst="rect">
            <a:avLst/>
          </a:prstGeom>
          <a:solidFill>
            <a:srgbClr val="1F2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5F6373"/>
                </a:solidFill>
                <a:latin typeface="Calibri"/>
              </a:rPr>
              <a:t>AI465 Agentic AI  |  RP2  |  U23AI052   7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371600"/>
          <a:ext cx="5669280" cy="48463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92240" y="1554480"/>
          <a:ext cx="52120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822960"/>
                <a:gridCol w="1097280"/>
                <a:gridCol w="1188720"/>
              </a:tblGrid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Condition</a:t>
                      </a:r>
                    </a:p>
                  </a:txBody>
                  <a:tcPr marL="54864" marR="54864" marT="18288" marB="18288">
                    <a:solidFill>
                      <a:srgbClr val="1F2A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AST %</a:t>
                      </a:r>
                    </a:p>
                  </a:txBody>
                  <a:tcPr marL="54864" marR="54864" marT="18288" marB="18288">
                    <a:solidFill>
                      <a:srgbClr val="1F2A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Latency s</a:t>
                      </a:r>
                    </a:p>
                  </a:txBody>
                  <a:tcPr marL="54864" marR="54864" marT="18288" marB="18288">
                    <a:solidFill>
                      <a:srgbClr val="1F2A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Tok / correct</a:t>
                      </a:r>
                    </a:p>
                  </a:txBody>
                  <a:tcPr marL="54864" marR="54864" marT="18288" marB="18288">
                    <a:solidFill>
                      <a:srgbClr val="1F2A6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B1F"/>
                          </a:solidFill>
                          <a:latin typeface="Calibri"/>
                        </a:rPr>
                        <a:t>5 tools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B1F"/>
                          </a:solidFill>
                          <a:latin typeface="Calibri"/>
                        </a:rPr>
                        <a:t>100.0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B1F"/>
                          </a:solidFill>
                          <a:latin typeface="Calibri"/>
                        </a:rPr>
                        <a:t>2.01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B1F"/>
                          </a:solidFill>
                          <a:latin typeface="Calibri"/>
                        </a:rPr>
                        <a:t>1252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B1F"/>
                          </a:solidFill>
                          <a:latin typeface="Calibri"/>
                        </a:rPr>
                        <a:t>20 tools</a:t>
                      </a:r>
                    </a:p>
                  </a:txBody>
                  <a:tcPr marL="54864" marR="54864" marT="18288" marB="18288">
                    <a:solidFill>
                      <a:srgbClr val="F0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B1F"/>
                          </a:solidFill>
                          <a:latin typeface="Calibri"/>
                        </a:rPr>
                        <a:t>100.0</a:t>
                      </a:r>
                    </a:p>
                  </a:txBody>
                  <a:tcPr marL="54864" marR="54864" marT="18288" marB="18288">
                    <a:solidFill>
                      <a:srgbClr val="F0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B1F"/>
                          </a:solidFill>
                          <a:latin typeface="Calibri"/>
                        </a:rPr>
                        <a:t>1.11</a:t>
                      </a:r>
                    </a:p>
                  </a:txBody>
                  <a:tcPr marL="54864" marR="54864" marT="18288" marB="18288">
                    <a:solidFill>
                      <a:srgbClr val="F0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B1F"/>
                          </a:solidFill>
                          <a:latin typeface="Calibri"/>
                        </a:rPr>
                        <a:t>3380</a:t>
                      </a:r>
                    </a:p>
                  </a:txBody>
                  <a:tcPr marL="54864" marR="54864" marT="18288" marB="18288">
                    <a:solidFill>
                      <a:srgbClr val="F0F1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B1F"/>
                          </a:solidFill>
                          <a:latin typeface="Calibri"/>
                        </a:rPr>
                        <a:t>50 tools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B1F"/>
                          </a:solidFill>
                          <a:latin typeface="Calibri"/>
                        </a:rPr>
                        <a:t>0.0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B1F"/>
                          </a:solidFill>
                          <a:latin typeface="Calibri"/>
                        </a:rPr>
                        <a:t>2.43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1B1F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92240" y="4206240"/>
            <a:ext cx="521208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5F6373"/>
                </a:solidFill>
                <a:latin typeface="Calibri"/>
              </a:rPr>
              <a:t>Calls per task: 1 in every condition except self-consistency (k votes).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 i="0">
                <a:solidFill>
                  <a:srgbClr val="1F2A6B"/>
                </a:solidFill>
                <a:latin typeface="Calibri"/>
              </a:rPr>
              <a:t>Ablations: what explains the effect?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280160" cy="54864"/>
          </a:xfrm>
          <a:prstGeom prst="rect">
            <a:avLst/>
          </a:prstGeom>
          <a:solidFill>
            <a:srgbClr val="1F2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5F6373"/>
                </a:solidFill>
                <a:latin typeface="Calibri"/>
              </a:rPr>
              <a:t>AI465 Agentic AI  |  RP2  |  U23AI052   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10515600" cy="3291840"/>
          </a:xfrm>
          <a:prstGeom prst="roundRect">
            <a:avLst/>
          </a:prstGeom>
          <a:solidFill>
            <a:srgbClr val="F0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800" b="1" i="0">
                <a:solidFill>
                  <a:srgbClr val="1F2A6B"/>
                </a:solidFill>
                <a:latin typeface="Calibri"/>
              </a:rPr>
              <a:t>Result pending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834640"/>
            <a:ext cx="9966960" cy="2194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0" i="0">
                <a:solidFill>
                  <a:srgbClr val="1B1B1F"/>
                </a:solidFill>
                <a:latin typeface="Calibri"/>
              </a:rPr>
              <a:t>Position, padding and matched-budget comparisons with bootstrap intervals (tiers 2 and 3).</a:t>
            </a:r>
          </a:p>
          <a:p>
            <a:pPr algn="l"/>
            <a:r>
              <a:rPr sz="1800" b="0" i="0">
                <a:solidFill>
                  <a:srgbClr val="1B1B1F"/>
                </a:solidFill>
                <a:latin typeface="Calibri"/>
              </a:rPr>
              <a:t/>
            </a:r>
          </a:p>
          <a:p>
            <a:pPr algn="l"/>
            <a:r>
              <a:rPr sz="1800" b="0" i="0">
                <a:solidFill>
                  <a:srgbClr val="1B1B1F"/>
                </a:solidFill>
                <a:latin typeface="Calibri"/>
              </a:rPr>
              <a:t>Run: python scripts/run_experiment.py --tiers 1 2 3</a:t>
            </a:r>
          </a:p>
          <a:p>
            <a:pPr algn="l"/>
            <a:r>
              <a:rPr sz="1800" b="0" i="0">
                <a:solidFill>
                  <a:srgbClr val="1B1B1F"/>
                </a:solidFill>
                <a:latin typeface="Calibri"/>
              </a:rPr>
              <a:t>then: python scripts/aggregate.py --run-dir results/&lt;run&gt;</a:t>
            </a:r>
          </a:p>
          <a:p>
            <a:pPr algn="l"/>
            <a:r>
              <a:rPr sz="1800" b="0" i="0">
                <a:solidFill>
                  <a:srgbClr val="1B1B1F"/>
                </a:solidFill>
                <a:latin typeface="Calibri"/>
              </a:rPr>
              <a:t>then: python scripts/make_slides.py --run-dir results/&lt;run&gt;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 i="0">
                <a:solidFill>
                  <a:srgbClr val="1F2A6B"/>
                </a:solidFill>
                <a:latin typeface="Calibri"/>
              </a:rPr>
              <a:t>Why it fails: taxonomy and a traced case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280160" cy="54864"/>
          </a:xfrm>
          <a:prstGeom prst="rect">
            <a:avLst/>
          </a:prstGeom>
          <a:solidFill>
            <a:srgbClr val="1F2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5F6373"/>
                </a:solidFill>
                <a:latin typeface="Calibri"/>
              </a:rPr>
              <a:t>AI465 Agentic AI  |  RP2  |  U23AI052   9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371600"/>
          <a:ext cx="5120640" cy="48463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943600" y="1463040"/>
            <a:ext cx="5760720" cy="4754880"/>
          </a:xfrm>
          <a:prstGeom prst="roundRect">
            <a:avLst/>
          </a:prstGeom>
          <a:solidFill>
            <a:srgbClr val="F0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80760" y="1554480"/>
            <a:ext cx="5486400" cy="4572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1B1B1F"/>
                </a:solidFill>
                <a:latin typeface="Calibri"/>
              </a:rPr>
              <a:t>Task 27c74bb0 (search): solved in every 5-tool run, failed in every 50-tool run</a:t>
            </a:r>
          </a:p>
          <a:p>
            <a:pPr algn="l"/>
            <a:r>
              <a:rPr sz="1400" b="0" i="0">
                <a:solidFill>
                  <a:srgbClr val="1B1B1F"/>
                </a:solidFill>
                <a:latin typeface="Calibri"/>
              </a:rPr>
              <a:t/>
            </a:r>
          </a:p>
          <a:p>
            <a:pPr algn="l"/>
            <a:r>
              <a:rPr sz="1400" b="0" i="0">
                <a:solidFill>
                  <a:srgbClr val="1B1B1F"/>
                </a:solidFill>
                <a:latin typeface="Calibri"/>
              </a:rPr>
              <a:t>Query: Can you extract content from the Careers section of the website www.company.com in text format?</a:t>
            </a:r>
          </a:p>
          <a:p>
            <a:pPr algn="l"/>
            <a:r>
              <a:rPr sz="1400" b="0" i="0">
                <a:solidFill>
                  <a:srgbClr val="1B1B1F"/>
                </a:solidFill>
                <a:latin typeface="Calibri"/>
              </a:rPr>
              <a:t>Gold: tavily-crawl</a:t>
            </a:r>
          </a:p>
          <a:p>
            <a:pPr algn="l"/>
            <a:r>
              <a:rPr sz="1400" b="0" i="0">
                <a:solidFill>
                  <a:srgbClr val="1B1B1F"/>
                </a:solidFill>
                <a:latin typeface="Calibri"/>
              </a:rPr>
              <a:t>Called: tavily-extract  -&gt;  wrong tool same domain</a:t>
            </a:r>
          </a:p>
          <a:p>
            <a:pPr algn="l"/>
            <a:r>
              <a:rPr sz="1400" b="0" i="0">
                <a:solidFill>
                  <a:srgbClr val="1B1B1F"/>
                </a:solidFill>
                <a:latin typeface="Calibri"/>
              </a:rPr>
              <a:t>Gold at position 15 of 50</a:t>
            </a:r>
          </a:p>
          <a:p>
            <a:pPr algn="l"/>
            <a:r>
              <a:rPr sz="1400" b="0" i="0">
                <a:solidFill>
                  <a:srgbClr val="1B1B1F"/>
                </a:solidFill>
                <a:latin typeface="Calibri"/>
              </a:rPr>
              <a:t/>
            </a:r>
          </a:p>
          <a:p>
            <a:pPr algn="l"/>
            <a:r>
              <a:rPr sz="1400" b="0" i="0">
                <a:solidFill>
                  <a:srgbClr val="1B1B1F"/>
                </a:solidFill>
                <a:latin typeface="Calibri"/>
              </a:rPr>
              <a:t>Picked tool: A powerful web content extraction tool that retrieves and processes raw content from specified URLs, ideal for data coll...</a:t>
            </a:r>
          </a:p>
          <a:p>
            <a:pPr algn="l"/>
            <a:r>
              <a:rPr sz="1400" b="0" i="0">
                <a:solidFill>
                  <a:srgbClr val="1B1B1F"/>
                </a:solidFill>
                <a:latin typeface="Calibri"/>
              </a:rPr>
              <a:t>Gold tool: A powerful web crawler that initiates a structured web crawl starting from a specified base URL. The crawler expands fro...</a:t>
            </a:r>
          </a:p>
          <a:p>
            <a:pPr algn="l"/>
            <a:r>
              <a:rPr sz="1400" b="0" i="0">
                <a:solidFill>
                  <a:srgbClr val="1B1B1F"/>
                </a:solidFill>
                <a:latin typeface="Calibri"/>
              </a:rPr>
              <a:t/>
            </a:r>
          </a:p>
          <a:p>
            <a:pPr algn="l"/>
            <a:r>
              <a:rPr sz="1400" b="0" i="0">
                <a:solidFill>
                  <a:srgbClr val="1B1B1F"/>
                </a:solidFill>
                <a:latin typeface="Calibri"/>
              </a:rPr>
              <a:t>Cause: (state after reading the trace)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 i="0">
                <a:solidFill>
                  <a:srgbClr val="1F2A6B"/>
                </a:solidFill>
                <a:latin typeface="Calibri"/>
              </a:rPr>
              <a:t>Limitations, next steps, and the demo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280160" cy="54864"/>
          </a:xfrm>
          <a:prstGeom prst="rect">
            <a:avLst/>
          </a:prstGeom>
          <a:solidFill>
            <a:srgbClr val="1F2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5F6373"/>
                </a:solidFill>
                <a:latin typeface="Calibri"/>
              </a:rPr>
              <a:t>AI465 Agentic AI  |  RP2  |  U23AI052  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4864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000" b="1" i="0">
                <a:solidFill>
                  <a:srgbClr val="1F2A6B"/>
                </a:solidFill>
                <a:latin typeface="Calibri"/>
              </a:rPr>
              <a:t>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B1B1F"/>
                </a:solidFill>
                <a:latin typeface="Calibri"/>
              </a:rPr>
              <a:t>•  One model, one temperature, single-step tasks.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B1B1F"/>
                </a:solidFill>
                <a:latin typeface="Calibri"/>
              </a:rPr>
              <a:t>•  Labels are the benchmark's; a valid alternative tool can be scored wrong.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B1B1F"/>
                </a:solidFill>
                <a:latin typeface="Calibri"/>
              </a:rPr>
              <a:t>•  Distractors are mostly cross-domain, so easier than a real marketplace.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B1B1F"/>
                </a:solidFill>
                <a:latin typeface="Calibri"/>
              </a:rPr>
              <a:t>•  Lenient parameter matching, as in the benchmark.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B1B1F"/>
                </a:solidFill>
                <a:latin typeface="Calibri"/>
              </a:rPr>
              <a:t>•  No Pass@K or live MCP execution.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371600"/>
            <a:ext cx="54864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000" b="1" i="0">
                <a:solidFill>
                  <a:srgbClr val="1F2A6B"/>
                </a:solidFill>
                <a:latin typeface="Calibri"/>
              </a:rPr>
              <a:t>With four more weeks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92024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B1B1F"/>
                </a:solidFill>
                <a:latin typeface="Calibri"/>
              </a:rPr>
              <a:t>•  Several models and sizes.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B1B1F"/>
                </a:solidFill>
                <a:latin typeface="Calibri"/>
              </a:rPr>
              <a:t>•  Distractors chosen by similarity to the gold tool.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B1B1F"/>
                </a:solidFill>
                <a:latin typeface="Calibri"/>
              </a:rPr>
              <a:t>•  A retrieval baseline that shows only the top-k tools.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B1B1F"/>
                </a:solidFill>
                <a:latin typeface="Calibri"/>
              </a:rPr>
              <a:t>•  Multi-step chains built from labelled calls.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B1B1F"/>
                </a:solidFill>
                <a:latin typeface="Calibri"/>
              </a:rPr>
              <a:t>•  Live MCP servers for Pass@K.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4754880"/>
            <a:ext cx="5394960" cy="1371600"/>
          </a:xfrm>
          <a:prstGeom prst="roundRect">
            <a:avLst/>
          </a:prstGeom>
          <a:solidFill>
            <a:srgbClr val="1F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4846320"/>
            <a:ext cx="512064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Live demo</a:t>
            </a:r>
          </a:p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python scripts/demo.py --domain map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